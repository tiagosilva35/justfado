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B696E20-11B6-4684-A583-AB7E02DDF79C}" type="slidenum"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Drift is usually studied as an accuracy problem; my premise is that it's also a fairness problem. RQ1 measures the effect, RQ2 asks whether adaptation fixes it.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E17F4F-5027-4FEB-AC61-51450496F3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prior families each solve half the problem. Rather than build a new learner, I keep an in-processing fair learner and add the missing adaptive layer. Aranyani is not my contribution — say that explicitly.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441AFD-E860-4F25-A975-F8C9AF31A12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Oblique gives expressive splits; soft routing makes it differentiable; each node is a probabilistic prediction so DP applies node-wise. Parameter isolation keeps it cheap and memoryless. Critically, τ is exactly the knob the controller sharpens on drift.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48B999-1EF9-4F48-ABD6-20829F6CCB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Per-node DP gap, Huber-smoothed: quadratic near zero for a clean gradient, linear tail so outliers don't dominate, but unit slope for a firmer correction past delta. DP is defined to match what the regulariser optimises.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BFB90C-B8BF-471C-9BC1-4E714335D8D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main new work this cycle. Marginal-only fairness is a known loophole; collapsing two binary attributes into a four-valued composite closes it, and because the node regulariser is written for arbitrary K, no learner code changed — only the group index in the loaders.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E8F961-5451-4958-9A46-905D7BC4108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ADWIN detectors on the error stream — sensitive pre-warm, strict confirmation. Warn raises LR; confirm spikes LR and sharpens temperature; recover anneals both back. ADWIN's bound scales with stream length, which is why the deltas differ between the long Folktables and short COMPAS streams. The label-noise guard prevents thrashing. This is also the part I most want to ablate.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782CE9-7614-496A-BF4F-FAF9C9956C0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Test-then-train per sample. Blue path is the forest; orange path is the detector firing the controller, which modulates the learning rate and temperature into the gradient step.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20B6AC-C3C2-4C32-8C8E-E1F8423A659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regimes on purpose: a real but gradual Folktables shift, and a short sharp synthetic COMPAS shift with known ground truth. The controller-free ablation isolates the controller's effect.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33DE88-D37B-4F47-B678-CDECE176A40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Submitted single-attribute result. RQ1: both ARF and RFR carry roughly double FADO's DP on both datasets. And the controller is regime-dependent: clear gain on abrupt COMPAS, a tie on gradual Folktables. Saying the tie out loud builds credibility.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B28743F-8027-467F-B928-8B1CCBC7B1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new result. Under the joint objective the controller's edge over the controller-free forest becomes significant under both tests, where the marginal view only saw a tie. It's a small gap (0.38pp) but consistent and now measurable. And the gerrymandering ratio shows fair learners concentrate residual unfairness in the joint cells marginal metrics miss.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6B307B-38C1-4632-86C3-E8DEEDC607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P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takeaways mapped to the questions and the design lesson. The next priority I want to defend is a full controller ablation — the weakest, most attackable part and the biggest lever for a stronger resubmission.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70797E-8595-4EF1-9108-54A09C0D1AD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19D174-8EBF-4E09-8553-36E446F516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BFE729-9D69-41F5-BA6F-D0A6CB4D94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1ACF2B-9AF7-4335-ABB5-45C7B9AA3D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2E6488-5DB1-4190-8463-5976820E21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619540-23CA-47CF-84C4-13244A78F1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50D822-621A-4496-80AC-AE7283185C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D1ED66-4E2C-41B4-AB6A-D97C53395A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8C802B-5AA1-48E0-BB5E-6E8375EBE1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D55985-3B13-4A43-8728-A4240D3842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38E58B-0BB7-49DD-A39F-97E3F14700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250DBB-74C5-4384-8D9B-776AB32640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2" descr="cisuc_logo.png"/>
          <p:cNvPicPr/>
          <p:nvPr/>
        </p:nvPicPr>
        <p:blipFill>
          <a:blip r:embed="rId1"/>
          <a:stretch/>
        </p:blipFill>
        <p:spPr>
          <a:xfrm>
            <a:off x="3992760" y="3124080"/>
            <a:ext cx="4205880" cy="60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822960" y="2331720"/>
            <a:ext cx="104238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2000"/>
              </a:lnSpc>
              <a:spcAft>
                <a:spcPts val="201"/>
              </a:spcAft>
            </a:pPr>
            <a:r>
              <a:rPr lang="en-US" sz="46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FADO</a:t>
            </a:r>
            <a:endParaRPr lang="pt-PT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 Reaction Controller for Fairness-Aware</a:t>
            </a:r>
            <a:endParaRPr lang="pt-P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201"/>
              </a:spcAft>
            </a:pPr>
            <a:r>
              <a:rPr lang="en-US" sz="3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Online Learning Under Concept Drift</a:t>
            </a:r>
            <a:endParaRPr lang="pt-P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841320" y="41148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Tiago Silva</a:t>
            </a:r>
            <a:endParaRPr lang="pt-P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841320" y="489204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Aft>
                <a:spcPts val="201"/>
              </a:spcAft>
            </a:pPr>
            <a:r>
              <a:rPr lang="en-US" sz="14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CISUC · Data-Centric AI Lab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201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Department of Informatics Engineering, University of Coimbra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1" descr="cisuc_logo.png"/>
          <p:cNvPicPr/>
          <p:nvPr/>
        </p:nvPicPr>
        <p:blipFill>
          <a:blip r:embed="rId1"/>
          <a:stretch/>
        </p:blipFill>
        <p:spPr>
          <a:xfrm>
            <a:off x="823320" y="6126840"/>
            <a:ext cx="2011320" cy="29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Outline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01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777240" y="141732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3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Outline</a:t>
            </a:r>
            <a:endParaRPr lang="pt-PT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1920240" y="2377440"/>
            <a:ext cx="82292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1. 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Motivation &amp; Problem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2. 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FADO: Base Learner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3. 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Intersectional Fairness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4. 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The Reaction Controller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5. 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Experimental Design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6. 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Results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301"/>
              </a:spcAft>
            </a:pPr>
            <a:r>
              <a:rPr lang="en-US" sz="2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7. 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Takeaways &amp; Next Steps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914400" y="278892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4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1. </a:t>
            </a:r>
            <a:r>
              <a:rPr lang="en-US" sz="4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Motivation &amp; Problem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1.Motivation &amp; Problem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03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Concept drift degrades </a:t>
            </a:r>
            <a:r>
              <a:rPr lang="en-US" sz="2800" b="1" u="sng" strike="noStrike">
                <a:solidFill>
                  <a:srgbClr val="DA0725"/>
                </a:solidFill>
                <a:effectLst/>
                <a:uFillTx/>
                <a:latin typeface="Arial"/>
              </a:rPr>
              <a:t>fairness</a:t>
            </a: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, not only accuracy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777240" y="2286000"/>
            <a:ext cx="64918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  <a:spcAft>
                <a:spcPts val="1500"/>
              </a:spcAft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Fairness-aware learners are trained assuming a </a:t>
            </a:r>
            <a:r>
              <a:rPr lang="en-US" sz="170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stationary</a:t>
            </a: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distribution.</a:t>
            </a:r>
            <a:endParaRPr lang="pt-P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4000"/>
              </a:lnSpc>
              <a:spcAft>
                <a:spcPts val="1500"/>
              </a:spcAft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Real streams </a:t>
            </a:r>
            <a:r>
              <a:rPr lang="en-US" sz="1700" b="1" u="sng" strike="noStrike">
                <a:solidFill>
                  <a:srgbClr val="262626"/>
                </a:solidFill>
                <a:effectLst/>
                <a:uFillTx/>
                <a:latin typeface="Arial"/>
              </a:rPr>
              <a:t>drift</a:t>
            </a: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: P(y | x) and base rates move with policy, behavioural and economic change.</a:t>
            </a:r>
            <a:endParaRPr lang="pt-P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4000"/>
              </a:lnSpc>
              <a:spcAft>
                <a:spcPts val="1500"/>
              </a:spcAft>
            </a:pP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Drift breaks the statistical relationships fairness rests on — so </a:t>
            </a:r>
            <a:r>
              <a:rPr lang="en-US" sz="170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bias can grow while accuracy looks stable</a:t>
            </a:r>
            <a:r>
              <a:rPr lang="en-US" sz="17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.</a:t>
            </a:r>
            <a:endParaRPr lang="pt-P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Connector 7"/>
          <p:cNvCxnSpPr/>
          <p:nvPr/>
        </p:nvCxnSpPr>
        <p:spPr>
          <a:xfrm>
            <a:off x="7635240" y="2377440"/>
            <a:ext cx="374940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89" name="TextBox 8"/>
          <p:cNvSpPr/>
          <p:nvPr/>
        </p:nvSpPr>
        <p:spPr>
          <a:xfrm>
            <a:off x="7635240" y="2514600"/>
            <a:ext cx="3748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RQ1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14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To what extent does drift affect group-fairness metrics online?</a:t>
            </a:r>
            <a:endParaRPr lang="pt-P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or 9"/>
          <p:cNvCxnSpPr/>
          <p:nvPr/>
        </p:nvCxnSpPr>
        <p:spPr>
          <a:xfrm>
            <a:off x="7635240" y="3977280"/>
            <a:ext cx="374940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91" name="TextBox 10"/>
          <p:cNvSpPr/>
          <p:nvPr/>
        </p:nvSpPr>
        <p:spPr>
          <a:xfrm>
            <a:off x="7635240" y="4114800"/>
            <a:ext cx="37486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RQ2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14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Can adaptive detection &amp; response preserve fairness while keeping performance?</a:t>
            </a:r>
            <a:endParaRPr lang="pt-PT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1.Motivation &amp; Problem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04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Keep the in-processing fairness; add the drift machinery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777240" y="224028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In-processing fair</a:t>
            </a:r>
            <a:endParaRPr lang="pt-P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777240" y="26517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e.g. Aranyani, RFR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Connector 8"/>
          <p:cNvCxnSpPr/>
          <p:nvPr/>
        </p:nvCxnSpPr>
        <p:spPr>
          <a:xfrm>
            <a:off x="777240" y="3035520"/>
            <a:ext cx="301788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00" name="TextBox 9"/>
          <p:cNvSpPr/>
          <p:nvPr/>
        </p:nvSpPr>
        <p:spPr>
          <a:xfrm>
            <a:off x="777240" y="3200400"/>
            <a:ext cx="3108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Fair during training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No drift detection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Regulariser is static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4434840" y="224028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Drift-adaptive</a:t>
            </a:r>
            <a:endParaRPr lang="pt-P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1"/>
          <p:cNvSpPr/>
          <p:nvPr/>
        </p:nvSpPr>
        <p:spPr>
          <a:xfrm>
            <a:off x="4434840" y="26517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e.g. ARF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Connector 12"/>
          <p:cNvCxnSpPr/>
          <p:nvPr/>
        </p:nvCxnSpPr>
        <p:spPr>
          <a:xfrm>
            <a:off x="4434840" y="3035520"/>
            <a:ext cx="301788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04" name="TextBox 13"/>
          <p:cNvSpPr/>
          <p:nvPr/>
        </p:nvSpPr>
        <p:spPr>
          <a:xfrm>
            <a:off x="4434840" y="3200400"/>
            <a:ext cx="3108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Detect &amp; react to shift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Accuracy-driven only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No fairness mechanism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4"/>
          <p:cNvSpPr/>
          <p:nvPr/>
        </p:nvSpPr>
        <p:spPr>
          <a:xfrm>
            <a:off x="8092440" y="224028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Drift-aware fair</a:t>
            </a:r>
            <a:endParaRPr lang="pt-P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5"/>
          <p:cNvSpPr/>
          <p:nvPr/>
        </p:nvSpPr>
        <p:spPr>
          <a:xfrm>
            <a:off x="8092440" y="265176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prior attempts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16"/>
          <p:cNvCxnSpPr/>
          <p:nvPr/>
        </p:nvCxnSpPr>
        <p:spPr>
          <a:xfrm>
            <a:off x="8092440" y="3035520"/>
            <a:ext cx="301788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08" name="TextBox 17"/>
          <p:cNvSpPr/>
          <p:nvPr/>
        </p:nvSpPr>
        <p:spPr>
          <a:xfrm>
            <a:off x="8092440" y="3200400"/>
            <a:ext cx="3108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Shift as fixed perturbation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Worst-case, not streaming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No online controller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Connector 18"/>
          <p:cNvCxnSpPr/>
          <p:nvPr/>
        </p:nvCxnSpPr>
        <p:spPr>
          <a:xfrm>
            <a:off x="6089760" y="5257800"/>
            <a:ext cx="360" cy="366120"/>
          </a:xfrm>
          <a:prstGeom prst="straightConnector1">
            <a:avLst/>
          </a:prstGeom>
          <a:ln w="20320">
            <a:solidFill>
              <a:srgbClr val="141414"/>
            </a:solidFill>
            <a:round/>
            <a:tailEnd len="med" type="triangle" w="med"/>
          </a:ln>
        </p:spPr>
      </p:cxnSp>
      <p:sp>
        <p:nvSpPr>
          <p:cNvPr id="110" name="TextBox 19"/>
          <p:cNvSpPr/>
          <p:nvPr/>
        </p:nvSpPr>
        <p:spPr>
          <a:xfrm>
            <a:off x="777240" y="571500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FADO</a:t>
            </a: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  =  retain Aranyani's node-level fairness regulariser, then wrap it in an online detector + reaction controller.</a:t>
            </a:r>
            <a:endParaRPr lang="pt-P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0"/>
          <p:cNvSpPr/>
          <p:nvPr/>
        </p:nvSpPr>
        <p:spPr>
          <a:xfrm>
            <a:off x="777240" y="630936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Aranyani is inherited, not contributed — the novelty is the drift-detection-and-response layer.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914400" y="278892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4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2. </a:t>
            </a:r>
            <a:r>
              <a:rPr lang="en-US" sz="4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FADO: Base Learner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2.FADO: Base Learner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06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Why a </a:t>
            </a:r>
            <a:r>
              <a:rPr lang="en-US" sz="28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soft-routed oblique</a:t>
            </a: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 forest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6"/>
          <p:cNvSpPr/>
          <p:nvPr/>
        </p:nvSpPr>
        <p:spPr>
          <a:xfrm>
            <a:off x="777240" y="2194560"/>
            <a:ext cx="10606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  <a:spcAft>
                <a:spcPts val="1199"/>
              </a:spcAft>
            </a:pPr>
            <a:r>
              <a:rPr lang="en-US" sz="1650" b="1" u="sng" strike="noStrike">
                <a:solidFill>
                  <a:srgbClr val="262626"/>
                </a:solidFill>
                <a:effectLst/>
                <a:uFillTx/>
                <a:latin typeface="Arial"/>
              </a:rPr>
              <a:t>Oblique</a:t>
            </a: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nodes split on a </a:t>
            </a:r>
            <a:r>
              <a:rPr lang="en-US" sz="165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linear combination of features</a:t>
            </a: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(an angled hyperplane) — far more expressive per node than axis-aligned splits.</a:t>
            </a:r>
            <a:endParaRPr lang="pt-PT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4000"/>
              </a:lnSpc>
              <a:spcAft>
                <a:spcPts val="1199"/>
              </a:spcAft>
            </a:pP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A temperature-scaled </a:t>
            </a:r>
            <a:r>
              <a:rPr lang="en-US" sz="165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sigmoid</a:t>
            </a: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makes routing soft and differentiable, so the whole forest trains by gradient descent, online — and each node acts as a per-step prediction, letting fairness be imposed at </a:t>
            </a:r>
            <a:r>
              <a:rPr lang="en-US" sz="1650" b="1" u="sng" strike="noStrike">
                <a:solidFill>
                  <a:srgbClr val="262626"/>
                </a:solidFill>
                <a:effectLst/>
                <a:uFillTx/>
                <a:latin typeface="Arial"/>
              </a:rPr>
              <a:t>every node</a:t>
            </a: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.</a:t>
            </a:r>
            <a:endParaRPr lang="pt-PT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Connector 7"/>
          <p:cNvCxnSpPr/>
          <p:nvPr/>
        </p:nvCxnSpPr>
        <p:spPr>
          <a:xfrm>
            <a:off x="3017520" y="4297680"/>
            <a:ext cx="612684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21" name="TextBox 8"/>
          <p:cNvSpPr/>
          <p:nvPr/>
        </p:nvSpPr>
        <p:spPr>
          <a:xfrm>
            <a:off x="777240" y="461772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n</a:t>
            </a: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j</a:t>
            </a: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(x) = σ( (w</a:t>
            </a: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j</a:t>
            </a: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ᵀx + b</a:t>
            </a: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j</a:t>
            </a: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) / </a:t>
            </a:r>
            <a:r>
              <a:rPr lang="en-US" sz="2300" b="1" u="none" strike="noStrike">
                <a:solidFill>
                  <a:srgbClr val="DA0725"/>
                </a:solidFill>
                <a:effectLst/>
                <a:uFillTx/>
                <a:latin typeface="Cambria"/>
              </a:rPr>
              <a:t>τ</a:t>
            </a: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)  ∈ (0, 1)</a:t>
            </a:r>
            <a:endParaRPr lang="pt-PT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777240" y="544068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f(x) = (1/K) Σ</a:t>
            </a: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k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softmax( f</a:t>
            </a:r>
            <a:r>
              <a:rPr lang="en-US" sz="15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k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(x) )</a:t>
            </a:r>
            <a:endParaRPr lang="pt-PT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777240" y="617220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Parameter isolation → cheap per-step gradient · O(W) streaming memory · </a:t>
            </a:r>
            <a:r>
              <a:rPr lang="en-US" sz="13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temperature τ is the controller's lever</a:t>
            </a: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(τ=1 smooth learning; τ→0 decisive recovery).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2.FADO: Base Learner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07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 per-node DP gap, smoothed by a </a:t>
            </a:r>
            <a:r>
              <a:rPr lang="en-US" sz="28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Huber surrogate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777240" y="2148840"/>
            <a:ext cx="10606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  <a:spcAft>
                <a:spcPts val="1001"/>
              </a:spcAft>
            </a:pP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At each routing node, compare the group-conditional mean routing to the cross-group mean — the per-node analogue of the demographic-parity gap — and sum the penalty over </a:t>
            </a:r>
            <a:r>
              <a:rPr lang="en-US" sz="165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every node in every tree</a:t>
            </a: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.</a:t>
            </a:r>
            <a:endParaRPr lang="pt-PT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0" name="Connector 7"/>
          <p:cNvCxnSpPr/>
          <p:nvPr/>
        </p:nvCxnSpPr>
        <p:spPr>
          <a:xfrm>
            <a:off x="3017520" y="3611880"/>
            <a:ext cx="612684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31" name="TextBox 8"/>
          <p:cNvSpPr/>
          <p:nvPr/>
        </p:nvSpPr>
        <p:spPr>
          <a:xfrm>
            <a:off x="777240" y="393192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F</a:t>
            </a:r>
            <a:r>
              <a:rPr lang="en-US" sz="1500" b="0" u="none" strike="noStrike">
                <a:solidFill>
                  <a:srgbClr val="DA0725"/>
                </a:solidFill>
                <a:effectLst/>
                <a:uFillTx/>
                <a:latin typeface="Cambria"/>
              </a:rPr>
              <a:t>a</a:t>
            </a: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= n̄ − n̄</a:t>
            </a:r>
            <a:r>
              <a:rPr lang="en-US" sz="1500" b="0" u="none" strike="noStrike">
                <a:solidFill>
                  <a:srgbClr val="DA0725"/>
                </a:solidFill>
                <a:effectLst/>
                <a:uFillTx/>
                <a:latin typeface="Cambria"/>
              </a:rPr>
              <a:t>a</a:t>
            </a:r>
            <a:endParaRPr lang="pt-P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777240" y="46634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ℒ = ℒ</a:t>
            </a: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CE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+ λ Σ</a:t>
            </a: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nodes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(1/K) Σ</a:t>
            </a: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a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φ</a:t>
            </a: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δ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( F</a:t>
            </a: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a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)</a:t>
            </a:r>
            <a:endParaRPr lang="pt-PT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777240" y="53492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9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φ</a:t>
            </a: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δ</a:t>
            </a:r>
            <a:r>
              <a:rPr lang="en-US" sz="19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′(z) = z  if |z| &lt; δ ,   sign(z)  if |z| ≥ δ</a:t>
            </a:r>
            <a:endParaRPr lang="pt-P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777240" y="598932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400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Quadratic near 0 (smooth gradient) · linear tail (bounded outlier influence) · </a:t>
            </a:r>
            <a:r>
              <a:rPr lang="en-US" sz="13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unit-slope tail → firmer correction past δ</a:t>
            </a: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. DP defined as deviation-from-mean to match the regulariser exactly.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914400" y="278892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4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3. </a:t>
            </a:r>
            <a:r>
              <a:rPr lang="en-US" sz="4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Intersectional Fairness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3.Intersectional Fairness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09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Marginal parity is </a:t>
            </a:r>
            <a:r>
              <a:rPr lang="en-US" sz="28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provably gameable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777240" y="2194560"/>
            <a:ext cx="64004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4000"/>
              </a:lnSpc>
              <a:spcAft>
                <a:spcPts val="1301"/>
              </a:spcAft>
            </a:pP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Enforcing parity on </a:t>
            </a:r>
            <a:r>
              <a:rPr lang="en-US" sz="165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each attribute separately</a:t>
            </a: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is defeatable (Kearns et al., 2018): a model can be perfectly fair on sex </a:t>
            </a:r>
            <a:r>
              <a:rPr lang="en-US" sz="1650" b="0" i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and</a:t>
            </a: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on race, yet badly unfair on a </a:t>
            </a:r>
            <a:r>
              <a:rPr lang="en-US" sz="1650" b="1" u="sng" strike="noStrike">
                <a:solidFill>
                  <a:srgbClr val="262626"/>
                </a:solidFill>
                <a:effectLst/>
                <a:uFillTx/>
                <a:latin typeface="Arial"/>
              </a:rPr>
              <a:t>joint</a:t>
            </a: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subgroup — fairness gerrymandering.</a:t>
            </a:r>
            <a:endParaRPr lang="pt-PT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4000"/>
              </a:lnSpc>
              <a:spcAft>
                <a:spcPts val="1301"/>
              </a:spcAft>
            </a:pP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FADO optimises parity over the </a:t>
            </a:r>
            <a:r>
              <a:rPr lang="en-US" sz="165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Cartesian-product subgroups</a:t>
            </a:r>
            <a:r>
              <a:rPr lang="en-US" sz="16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. The regulariser already supports arbitrary K ≥ 2 — the learner needed no change.</a:t>
            </a:r>
            <a:endParaRPr lang="pt-PT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Connector 7"/>
          <p:cNvCxnSpPr/>
          <p:nvPr/>
        </p:nvCxnSpPr>
        <p:spPr>
          <a:xfrm>
            <a:off x="777240" y="4709160"/>
            <a:ext cx="612684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44" name="TextBox 8"/>
          <p:cNvSpPr/>
          <p:nvPr/>
        </p:nvSpPr>
        <p:spPr>
          <a:xfrm>
            <a:off x="777240" y="4937760"/>
            <a:ext cx="6126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a = 2·a</a:t>
            </a:r>
            <a:r>
              <a:rPr lang="en-US" sz="1500" b="0" u="none" strike="noStrike">
                <a:solidFill>
                  <a:srgbClr val="DA0725"/>
                </a:solidFill>
                <a:effectLst/>
                <a:uFillTx/>
                <a:latin typeface="Cambria"/>
              </a:rPr>
              <a:t>1</a:t>
            </a: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+ a</a:t>
            </a:r>
            <a:r>
              <a:rPr lang="en-US" sz="1500" b="0" u="none" strike="noStrike">
                <a:solidFill>
                  <a:srgbClr val="DA0725"/>
                </a:solidFill>
                <a:effectLst/>
                <a:uFillTx/>
                <a:latin typeface="Cambria"/>
              </a:rPr>
              <a:t>2</a:t>
            </a: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  ∈  { 0, 1, 2, 3 }</a:t>
            </a:r>
            <a:endParaRPr lang="pt-PT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777240" y="5806440"/>
            <a:ext cx="6126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One 4-valued composite index replaces two binary axes.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7772400" y="201168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Four joint cells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1"/>
          <p:cNvSpPr/>
          <p:nvPr/>
        </p:nvSpPr>
        <p:spPr>
          <a:xfrm>
            <a:off x="7772400" y="2468880"/>
            <a:ext cx="1691280" cy="1691280"/>
          </a:xfrm>
          <a:prstGeom prst="rect">
            <a:avLst/>
          </a:prstGeom>
          <a:noFill/>
          <a:ln w="12700">
            <a:solidFill>
              <a:srgbClr val="C4C4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2"/>
          <p:cNvSpPr/>
          <p:nvPr/>
        </p:nvSpPr>
        <p:spPr>
          <a:xfrm>
            <a:off x="7772400" y="2468880"/>
            <a:ext cx="16912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a1=0, a2=0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13"/>
          <p:cNvSpPr/>
          <p:nvPr/>
        </p:nvSpPr>
        <p:spPr>
          <a:xfrm>
            <a:off x="9692640" y="2468880"/>
            <a:ext cx="1691280" cy="1691280"/>
          </a:xfrm>
          <a:prstGeom prst="rect">
            <a:avLst/>
          </a:prstGeom>
          <a:noFill/>
          <a:ln w="12700">
            <a:solidFill>
              <a:srgbClr val="C4C4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4"/>
          <p:cNvSpPr/>
          <p:nvPr/>
        </p:nvSpPr>
        <p:spPr>
          <a:xfrm>
            <a:off x="9692640" y="2468880"/>
            <a:ext cx="16912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a1=0, a2=1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15"/>
          <p:cNvSpPr/>
          <p:nvPr/>
        </p:nvSpPr>
        <p:spPr>
          <a:xfrm>
            <a:off x="7772400" y="4343400"/>
            <a:ext cx="1691280" cy="1691280"/>
          </a:xfrm>
          <a:prstGeom prst="rect">
            <a:avLst/>
          </a:prstGeom>
          <a:noFill/>
          <a:ln w="12700">
            <a:solidFill>
              <a:srgbClr val="C4C4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6"/>
          <p:cNvSpPr/>
          <p:nvPr/>
        </p:nvSpPr>
        <p:spPr>
          <a:xfrm>
            <a:off x="7772400" y="4343400"/>
            <a:ext cx="16912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a1=1, a2=0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17"/>
          <p:cNvSpPr/>
          <p:nvPr/>
        </p:nvSpPr>
        <p:spPr>
          <a:xfrm>
            <a:off x="9692640" y="4343400"/>
            <a:ext cx="1691280" cy="1691280"/>
          </a:xfrm>
          <a:prstGeom prst="rect">
            <a:avLst/>
          </a:prstGeom>
          <a:noFill/>
          <a:ln w="12700">
            <a:solidFill>
              <a:srgbClr val="C4C4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8"/>
          <p:cNvSpPr/>
          <p:nvPr/>
        </p:nvSpPr>
        <p:spPr>
          <a:xfrm>
            <a:off x="9692640" y="4343400"/>
            <a:ext cx="16912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a1=1, a2=1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914400" y="278892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4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4. </a:t>
            </a:r>
            <a:r>
              <a:rPr lang="en-US" sz="4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The Reaction Controller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4.The Reaction Controller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11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Two detectors, three phases, one </a:t>
            </a:r>
            <a:r>
              <a:rPr lang="en-US" sz="28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temperature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777240" y="22860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WARN</a:t>
            </a:r>
            <a:endParaRPr lang="pt-P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7"/>
          <p:cNvSpPr/>
          <p:nvPr/>
        </p:nvSpPr>
        <p:spPr>
          <a:xfrm>
            <a:off x="777240" y="2697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pre-warm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4" name="Connector 8"/>
          <p:cNvCxnSpPr/>
          <p:nvPr/>
        </p:nvCxnSpPr>
        <p:spPr>
          <a:xfrm>
            <a:off x="777240" y="3063240"/>
            <a:ext cx="283500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65" name="TextBox 9"/>
          <p:cNvSpPr/>
          <p:nvPr/>
        </p:nvSpPr>
        <p:spPr>
          <a:xfrm>
            <a:off x="777240" y="3200400"/>
            <a:ext cx="2925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Sensitive D_w trips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LR × β_w  (=5)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arm — don't commit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" name="Connector 10"/>
          <p:cNvCxnSpPr/>
          <p:nvPr/>
        </p:nvCxnSpPr>
        <p:spPr>
          <a:xfrm>
            <a:off x="3812760" y="2788920"/>
            <a:ext cx="531000" cy="360"/>
          </a:xfrm>
          <a:prstGeom prst="straightConnector1">
            <a:avLst/>
          </a:prstGeom>
          <a:ln w="20320">
            <a:solidFill>
              <a:srgbClr val="141414"/>
            </a:solidFill>
            <a:round/>
            <a:tailEnd len="med" type="triangle" w="med"/>
          </a:ln>
        </p:spPr>
      </p:cxnSp>
      <p:sp>
        <p:nvSpPr>
          <p:cNvPr id="167" name="TextBox 11"/>
          <p:cNvSpPr/>
          <p:nvPr/>
        </p:nvSpPr>
        <p:spPr>
          <a:xfrm>
            <a:off x="4480560" y="22860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CONFIRM</a:t>
            </a:r>
            <a:endParaRPr lang="pt-P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2"/>
          <p:cNvSpPr/>
          <p:nvPr/>
        </p:nvSpPr>
        <p:spPr>
          <a:xfrm>
            <a:off x="4480560" y="2697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spike + sharpen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9" name="Connector 13"/>
          <p:cNvCxnSpPr/>
          <p:nvPr/>
        </p:nvCxnSpPr>
        <p:spPr>
          <a:xfrm>
            <a:off x="4480200" y="3063240"/>
            <a:ext cx="283536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70" name="TextBox 14"/>
          <p:cNvSpPr/>
          <p:nvPr/>
        </p:nvSpPr>
        <p:spPr>
          <a:xfrm>
            <a:off x="4480560" y="3200400"/>
            <a:ext cx="2925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Strict D_c confirms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LR × β_c  (=10)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τ → τ_drift = 0.1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reset detectors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Connector 15"/>
          <p:cNvCxnSpPr/>
          <p:nvPr/>
        </p:nvCxnSpPr>
        <p:spPr>
          <a:xfrm>
            <a:off x="7516080" y="2788920"/>
            <a:ext cx="531000" cy="360"/>
          </a:xfrm>
          <a:prstGeom prst="straightConnector1">
            <a:avLst/>
          </a:prstGeom>
          <a:ln w="20320">
            <a:solidFill>
              <a:srgbClr val="141414"/>
            </a:solidFill>
            <a:round/>
            <a:tailEnd len="med" type="triangle" w="med"/>
          </a:ln>
        </p:spPr>
      </p:cxnSp>
      <p:sp>
        <p:nvSpPr>
          <p:cNvPr id="172" name="TextBox 16"/>
          <p:cNvSpPr/>
          <p:nvPr/>
        </p:nvSpPr>
        <p:spPr>
          <a:xfrm>
            <a:off x="8183880" y="228600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7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RECOVER</a:t>
            </a:r>
            <a:endParaRPr lang="pt-P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7"/>
          <p:cNvSpPr/>
          <p:nvPr/>
        </p:nvSpPr>
        <p:spPr>
          <a:xfrm>
            <a:off x="8183880" y="2697480"/>
            <a:ext cx="3291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anneal back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4" name="Connector 18"/>
          <p:cNvCxnSpPr/>
          <p:nvPr/>
        </p:nvCxnSpPr>
        <p:spPr>
          <a:xfrm>
            <a:off x="8183520" y="3063240"/>
            <a:ext cx="283500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75" name="TextBox 19"/>
          <p:cNvSpPr/>
          <p:nvPr/>
        </p:nvSpPr>
        <p:spPr>
          <a:xfrm>
            <a:off x="8183880" y="3200400"/>
            <a:ext cx="2925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η → η₀ over Δ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τ → 1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cooldown C = 200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6" name="Connector 20"/>
          <p:cNvCxnSpPr/>
          <p:nvPr/>
        </p:nvCxnSpPr>
        <p:spPr>
          <a:xfrm>
            <a:off x="3017520" y="5029200"/>
            <a:ext cx="612684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77" name="TextBox 21"/>
          <p:cNvSpPr/>
          <p:nvPr/>
        </p:nvSpPr>
        <p:spPr>
          <a:xfrm>
            <a:off x="777240" y="534924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ε</a:t>
            </a:r>
            <a:r>
              <a:rPr lang="en-US" sz="1400" b="0" u="none" strike="noStrike">
                <a:solidFill>
                  <a:srgbClr val="DA0725"/>
                </a:solidFill>
                <a:effectLst/>
                <a:uFillTx/>
                <a:latin typeface="Cambria"/>
              </a:rPr>
              <a:t>cut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Cambria"/>
              </a:rPr>
              <a:t> = √( (1/2m) · ln(4/δ) )</a:t>
            </a:r>
            <a:endParaRPr lang="pt-P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2"/>
          <p:cNvSpPr/>
          <p:nvPr/>
        </p:nvSpPr>
        <p:spPr>
          <a:xfrm>
            <a:off x="777240" y="598932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δ calibrated to stream length (ε ∝ 1/√m).  </a:t>
            </a: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Label-noise guard (ν=0.7) excludes confident-but-wrong points, so noise can't fire the controller.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4.The Reaction Controller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12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The prequential loop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6" descr="fado_figure-1.png"/>
          <p:cNvPicPr/>
          <p:nvPr/>
        </p:nvPicPr>
        <p:blipFill>
          <a:blip r:embed="rId1"/>
          <a:stretch/>
        </p:blipFill>
        <p:spPr>
          <a:xfrm>
            <a:off x="1341000" y="1965960"/>
            <a:ext cx="9509400" cy="424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7"/>
          <p:cNvSpPr/>
          <p:nvPr/>
        </p:nvSpPr>
        <p:spPr>
          <a:xfrm>
            <a:off x="777240" y="638028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Blue = data flow through the fair forest.   Orange = drift signals &amp; control flow: detector → controller → retuned gradient step.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914400" y="278892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4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5. </a:t>
            </a:r>
            <a:r>
              <a:rPr lang="en-US" sz="4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Experimental Design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5.Experimental Design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14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Two complementary </a:t>
            </a:r>
            <a:r>
              <a:rPr lang="en-US" sz="28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drift regimes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6"/>
          <p:cNvSpPr/>
          <p:nvPr/>
        </p:nvSpPr>
        <p:spPr>
          <a:xfrm>
            <a:off x="777240" y="233172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Folktables — natural, gradual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Connector 7"/>
          <p:cNvCxnSpPr/>
          <p:nvPr/>
        </p:nvCxnSpPr>
        <p:spPr>
          <a:xfrm>
            <a:off x="777240" y="3063240"/>
            <a:ext cx="301788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95" name="TextBox 8"/>
          <p:cNvSpPr/>
          <p:nvPr/>
        </p:nvSpPr>
        <p:spPr>
          <a:xfrm>
            <a:off x="777240" y="3200400"/>
            <a:ext cx="31086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ACS Income (CA), ~187k rows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Real cross-year shift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2015 train → 2017–18 stream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Group = sex × race (joint)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4434840" y="233172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COMPAS — synthetic, abrupt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7" name="Connector 10"/>
          <p:cNvCxnSpPr/>
          <p:nvPr/>
        </p:nvCxnSpPr>
        <p:spPr>
          <a:xfrm>
            <a:off x="4434840" y="3063240"/>
            <a:ext cx="301788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198" name="TextBox 11"/>
          <p:cNvSpPr/>
          <p:nvPr/>
        </p:nvSpPr>
        <p:spPr>
          <a:xfrm>
            <a:off x="4434840" y="3200400"/>
            <a:ext cx="31086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7.2k rows, controlled testbed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Symmetric race swap +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Bernoulli(0.5) label flip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no_drift vs abrupt_race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2"/>
          <p:cNvSpPr/>
          <p:nvPr/>
        </p:nvSpPr>
        <p:spPr>
          <a:xfrm>
            <a:off x="8092440" y="233172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Protocol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0" name="Connector 13"/>
          <p:cNvCxnSpPr/>
          <p:nvPr/>
        </p:nvCxnSpPr>
        <p:spPr>
          <a:xfrm>
            <a:off x="8092440" y="3063240"/>
            <a:ext cx="3017880" cy="360"/>
          </a:xfrm>
          <a:prstGeom prst="straightConnector1">
            <a:avLst/>
          </a:prstGeom>
          <a:ln w="12700">
            <a:solidFill>
              <a:srgbClr val="C4C4C4"/>
            </a:solidFill>
            <a:round/>
          </a:ln>
        </p:spPr>
      </p:cxnSp>
      <p:sp>
        <p:nvSpPr>
          <p:cNvPr id="201" name="TextBox 14"/>
          <p:cNvSpPr/>
          <p:nvPr/>
        </p:nvSpPr>
        <p:spPr>
          <a:xfrm>
            <a:off x="8092440" y="3200400"/>
            <a:ext cx="31086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Prequential test-then-train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Batch 1 · 30 pinned seeds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Paired Wilcoxon + Holm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3000"/>
              </a:lnSpc>
              <a:spcAft>
                <a:spcPts val="799"/>
              </a:spcAft>
            </a:pPr>
            <a:r>
              <a:rPr lang="en-US" sz="14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Welch t-test cross-check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777240" y="585216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13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Baselines (held fixed): </a:t>
            </a: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ARF (adaptive, unfair), RFR (fair, static), and a controller-free Aranyani ablation sharing learner, loss, window and seed-pinned data order — so any FADO–Aranyani gap is the controller alone.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914400" y="278892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4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6. </a:t>
            </a:r>
            <a:r>
              <a:rPr lang="en-US" sz="4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Results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6.Results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16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Marginal DP/EO — drift erodes fairness; controller helps on </a:t>
            </a:r>
            <a:r>
              <a:rPr lang="en-US" sz="24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abrupt</a:t>
            </a:r>
            <a:r>
              <a:rPr lang="en-US" sz="24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 shift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0" name="Connector 6"/>
          <p:cNvCxnSpPr/>
          <p:nvPr/>
        </p:nvCxnSpPr>
        <p:spPr>
          <a:xfrm>
            <a:off x="777240" y="2240280"/>
            <a:ext cx="6629760" cy="360"/>
          </a:xfrm>
          <a:prstGeom prst="straightConnector1">
            <a:avLst/>
          </a:prstGeom>
          <a:ln w="17780">
            <a:solidFill>
              <a:srgbClr val="2A2A2A"/>
            </a:solidFill>
            <a:round/>
          </a:ln>
        </p:spPr>
      </p:cxnSp>
      <p:sp>
        <p:nvSpPr>
          <p:cNvPr id="211" name="TextBox 7"/>
          <p:cNvSpPr/>
          <p:nvPr/>
        </p:nvSpPr>
        <p:spPr>
          <a:xfrm>
            <a:off x="777240" y="2295000"/>
            <a:ext cx="1599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Dataset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2377440" y="2295000"/>
            <a:ext cx="146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Model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3840480" y="22950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Acc ↑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5212080" y="229500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DP ↓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1"/>
          <p:cNvSpPr/>
          <p:nvPr/>
        </p:nvSpPr>
        <p:spPr>
          <a:xfrm>
            <a:off x="6309360" y="229500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EO ↓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6" name="Connector 12"/>
          <p:cNvCxnSpPr/>
          <p:nvPr/>
        </p:nvCxnSpPr>
        <p:spPr>
          <a:xfrm>
            <a:off x="777240" y="2697480"/>
            <a:ext cx="6629760" cy="360"/>
          </a:xfrm>
          <a:prstGeom prst="straightConnector1">
            <a:avLst/>
          </a:prstGeom>
          <a:ln w="11430">
            <a:solidFill>
              <a:srgbClr val="2A2A2A"/>
            </a:solidFill>
            <a:round/>
          </a:ln>
        </p:spPr>
      </p:cxnSp>
      <p:sp>
        <p:nvSpPr>
          <p:cNvPr id="217" name="TextBox 13"/>
          <p:cNvSpPr/>
          <p:nvPr/>
        </p:nvSpPr>
        <p:spPr>
          <a:xfrm>
            <a:off x="777240" y="2743200"/>
            <a:ext cx="1599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Folktables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4"/>
          <p:cNvSpPr/>
          <p:nvPr/>
        </p:nvSpPr>
        <p:spPr>
          <a:xfrm>
            <a:off x="2377440" y="2743200"/>
            <a:ext cx="146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FADO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5"/>
          <p:cNvSpPr/>
          <p:nvPr/>
        </p:nvSpPr>
        <p:spPr>
          <a:xfrm>
            <a:off x="3840480" y="27432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0.8033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6"/>
          <p:cNvSpPr/>
          <p:nvPr/>
        </p:nvSpPr>
        <p:spPr>
          <a:xfrm>
            <a:off x="5212080" y="274320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0.0284**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7"/>
          <p:cNvSpPr/>
          <p:nvPr/>
        </p:nvSpPr>
        <p:spPr>
          <a:xfrm>
            <a:off x="6309360" y="274320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0.0281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8"/>
          <p:cNvSpPr/>
          <p:nvPr/>
        </p:nvSpPr>
        <p:spPr>
          <a:xfrm>
            <a:off x="777240" y="3145680"/>
            <a:ext cx="1599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9"/>
          <p:cNvSpPr/>
          <p:nvPr/>
        </p:nvSpPr>
        <p:spPr>
          <a:xfrm>
            <a:off x="2377440" y="3145680"/>
            <a:ext cx="146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Aranyani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0"/>
          <p:cNvSpPr/>
          <p:nvPr/>
        </p:nvSpPr>
        <p:spPr>
          <a:xfrm>
            <a:off x="3840480" y="314568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0.8053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1"/>
          <p:cNvSpPr/>
          <p:nvPr/>
        </p:nvSpPr>
        <p:spPr>
          <a:xfrm>
            <a:off x="5212080" y="314568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0.0299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2"/>
          <p:cNvSpPr/>
          <p:nvPr/>
        </p:nvSpPr>
        <p:spPr>
          <a:xfrm>
            <a:off x="6309360" y="314568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0.0257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3"/>
          <p:cNvSpPr/>
          <p:nvPr/>
        </p:nvSpPr>
        <p:spPr>
          <a:xfrm>
            <a:off x="777240" y="3547800"/>
            <a:ext cx="1599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4"/>
          <p:cNvSpPr/>
          <p:nvPr/>
        </p:nvSpPr>
        <p:spPr>
          <a:xfrm>
            <a:off x="2377440" y="3547800"/>
            <a:ext cx="146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ARF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5"/>
          <p:cNvSpPr/>
          <p:nvPr/>
        </p:nvSpPr>
        <p:spPr>
          <a:xfrm>
            <a:off x="3840480" y="35478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0.7447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6"/>
          <p:cNvSpPr/>
          <p:nvPr/>
        </p:nvSpPr>
        <p:spPr>
          <a:xfrm>
            <a:off x="5212080" y="354780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0.0722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7"/>
          <p:cNvSpPr/>
          <p:nvPr/>
        </p:nvSpPr>
        <p:spPr>
          <a:xfrm>
            <a:off x="6309360" y="354780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0.0743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8"/>
          <p:cNvSpPr/>
          <p:nvPr/>
        </p:nvSpPr>
        <p:spPr>
          <a:xfrm>
            <a:off x="777240" y="3950280"/>
            <a:ext cx="1599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9"/>
          <p:cNvSpPr/>
          <p:nvPr/>
        </p:nvSpPr>
        <p:spPr>
          <a:xfrm>
            <a:off x="2377440" y="3950280"/>
            <a:ext cx="146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RFR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0"/>
          <p:cNvSpPr/>
          <p:nvPr/>
        </p:nvSpPr>
        <p:spPr>
          <a:xfrm>
            <a:off x="3840480" y="395028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0.7780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31"/>
          <p:cNvSpPr/>
          <p:nvPr/>
        </p:nvSpPr>
        <p:spPr>
          <a:xfrm>
            <a:off x="5212080" y="395028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0.0733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2"/>
          <p:cNvSpPr/>
          <p:nvPr/>
        </p:nvSpPr>
        <p:spPr>
          <a:xfrm>
            <a:off x="6309360" y="395028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0.0586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Connector 33"/>
          <p:cNvCxnSpPr/>
          <p:nvPr/>
        </p:nvCxnSpPr>
        <p:spPr>
          <a:xfrm>
            <a:off x="777240" y="4370760"/>
            <a:ext cx="6629760" cy="360"/>
          </a:xfrm>
          <a:prstGeom prst="straightConnector1">
            <a:avLst/>
          </a:prstGeom>
          <a:ln w="7620">
            <a:solidFill>
              <a:srgbClr val="C4C4C4"/>
            </a:solidFill>
            <a:round/>
          </a:ln>
        </p:spPr>
      </p:cxnSp>
      <p:sp>
        <p:nvSpPr>
          <p:cNvPr id="238" name="TextBox 34"/>
          <p:cNvSpPr/>
          <p:nvPr/>
        </p:nvSpPr>
        <p:spPr>
          <a:xfrm>
            <a:off x="777240" y="4352400"/>
            <a:ext cx="1599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COMPAS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35"/>
          <p:cNvSpPr/>
          <p:nvPr/>
        </p:nvSpPr>
        <p:spPr>
          <a:xfrm>
            <a:off x="2377440" y="4352400"/>
            <a:ext cx="146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FADO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36"/>
          <p:cNvSpPr/>
          <p:nvPr/>
        </p:nvSpPr>
        <p:spPr>
          <a:xfrm>
            <a:off x="3840480" y="43524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0.6434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37"/>
          <p:cNvSpPr/>
          <p:nvPr/>
        </p:nvSpPr>
        <p:spPr>
          <a:xfrm>
            <a:off x="5212080" y="435240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0.0611***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38"/>
          <p:cNvSpPr/>
          <p:nvPr/>
        </p:nvSpPr>
        <p:spPr>
          <a:xfrm>
            <a:off x="6309360" y="435240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0.0923***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39"/>
          <p:cNvSpPr/>
          <p:nvPr/>
        </p:nvSpPr>
        <p:spPr>
          <a:xfrm>
            <a:off x="777240" y="4754880"/>
            <a:ext cx="1599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0"/>
          <p:cNvSpPr/>
          <p:nvPr/>
        </p:nvSpPr>
        <p:spPr>
          <a:xfrm>
            <a:off x="2377440" y="4754880"/>
            <a:ext cx="146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Aranyani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41"/>
          <p:cNvSpPr/>
          <p:nvPr/>
        </p:nvSpPr>
        <p:spPr>
          <a:xfrm>
            <a:off x="3840480" y="475488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0.6451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42"/>
          <p:cNvSpPr/>
          <p:nvPr/>
        </p:nvSpPr>
        <p:spPr>
          <a:xfrm>
            <a:off x="5212080" y="475488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0.0679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43"/>
          <p:cNvSpPr/>
          <p:nvPr/>
        </p:nvSpPr>
        <p:spPr>
          <a:xfrm>
            <a:off x="6309360" y="475488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0.0979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44"/>
          <p:cNvSpPr/>
          <p:nvPr/>
        </p:nvSpPr>
        <p:spPr>
          <a:xfrm>
            <a:off x="777240" y="5157360"/>
            <a:ext cx="1599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45"/>
          <p:cNvSpPr/>
          <p:nvPr/>
        </p:nvSpPr>
        <p:spPr>
          <a:xfrm>
            <a:off x="2377440" y="5157360"/>
            <a:ext cx="146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ARF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46"/>
          <p:cNvSpPr/>
          <p:nvPr/>
        </p:nvSpPr>
        <p:spPr>
          <a:xfrm>
            <a:off x="3840480" y="515736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0.6313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47"/>
          <p:cNvSpPr/>
          <p:nvPr/>
        </p:nvSpPr>
        <p:spPr>
          <a:xfrm>
            <a:off x="5212080" y="515736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0.0808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48"/>
          <p:cNvSpPr/>
          <p:nvPr/>
        </p:nvSpPr>
        <p:spPr>
          <a:xfrm>
            <a:off x="6309360" y="515736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0.1053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49"/>
          <p:cNvSpPr/>
          <p:nvPr/>
        </p:nvSpPr>
        <p:spPr>
          <a:xfrm>
            <a:off x="777240" y="5559480"/>
            <a:ext cx="15998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50"/>
          <p:cNvSpPr/>
          <p:nvPr/>
        </p:nvSpPr>
        <p:spPr>
          <a:xfrm>
            <a:off x="2377440" y="5559480"/>
            <a:ext cx="1462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RFR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51"/>
          <p:cNvSpPr/>
          <p:nvPr/>
        </p:nvSpPr>
        <p:spPr>
          <a:xfrm>
            <a:off x="3840480" y="555948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0.6404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52"/>
          <p:cNvSpPr/>
          <p:nvPr/>
        </p:nvSpPr>
        <p:spPr>
          <a:xfrm>
            <a:off x="5212080" y="555948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0.0813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53"/>
          <p:cNvSpPr/>
          <p:nvPr/>
        </p:nvSpPr>
        <p:spPr>
          <a:xfrm>
            <a:off x="6309360" y="555948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0.1067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8" name="Connector 54"/>
          <p:cNvCxnSpPr/>
          <p:nvPr/>
        </p:nvCxnSpPr>
        <p:spPr>
          <a:xfrm>
            <a:off x="777240" y="6007320"/>
            <a:ext cx="6629760" cy="360"/>
          </a:xfrm>
          <a:prstGeom prst="straightConnector1">
            <a:avLst/>
          </a:prstGeom>
          <a:ln w="17780">
            <a:solidFill>
              <a:srgbClr val="2A2A2A"/>
            </a:solidFill>
            <a:round/>
          </a:ln>
        </p:spPr>
      </p:cxnSp>
      <p:sp>
        <p:nvSpPr>
          <p:cNvPr id="259" name="TextBox 55"/>
          <p:cNvSpPr/>
          <p:nvPr/>
        </p:nvSpPr>
        <p:spPr>
          <a:xfrm>
            <a:off x="7680960" y="233172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Reading the table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56"/>
          <p:cNvSpPr/>
          <p:nvPr/>
        </p:nvSpPr>
        <p:spPr>
          <a:xfrm>
            <a:off x="7680960" y="2788920"/>
            <a:ext cx="37486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3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RQ1.</a:t>
            </a: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Both external baselines carry ~2× FADO's DP on both regimes (all p&lt;0.001).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3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Regime-dependent.</a:t>
            </a: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On abrupt COMPAS the controller cuts DP 0.68pp and EO 0.56pp (both p&lt;0.001).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35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On gradual Folktables</a:t>
            </a: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it ties the base learner — a smooth shift needs no spike.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57"/>
          <p:cNvSpPr/>
          <p:nvPr/>
        </p:nvSpPr>
        <p:spPr>
          <a:xfrm>
            <a:off x="777240" y="6172200"/>
            <a:ext cx="662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Bold = best per metric within dataset;  ** p&lt;0.01, *** p&lt;0.001 (Wilcoxon, Holm) vs every baseline;  EO monitored, not optimised.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6.Results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17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4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Intersectional grouping surfaces the </a:t>
            </a:r>
            <a:r>
              <a:rPr lang="en-US" sz="24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controller's contribution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Connector 6"/>
          <p:cNvCxnSpPr/>
          <p:nvPr/>
        </p:nvCxnSpPr>
        <p:spPr>
          <a:xfrm>
            <a:off x="777240" y="2331720"/>
            <a:ext cx="6401160" cy="360"/>
          </a:xfrm>
          <a:prstGeom prst="straightConnector1">
            <a:avLst/>
          </a:prstGeom>
          <a:ln w="17780">
            <a:solidFill>
              <a:srgbClr val="2A2A2A"/>
            </a:solidFill>
            <a:round/>
          </a:ln>
        </p:spPr>
      </p:cxnSp>
      <p:sp>
        <p:nvSpPr>
          <p:cNvPr id="268" name="TextBox 7"/>
          <p:cNvSpPr/>
          <p:nvPr/>
        </p:nvSpPr>
        <p:spPr>
          <a:xfrm>
            <a:off x="777240" y="238644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Model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8"/>
          <p:cNvSpPr/>
          <p:nvPr/>
        </p:nvSpPr>
        <p:spPr>
          <a:xfrm>
            <a:off x="2331720" y="238644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Acc ↑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3520440" y="238644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DP ↓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0"/>
          <p:cNvSpPr/>
          <p:nvPr/>
        </p:nvSpPr>
        <p:spPr>
          <a:xfrm>
            <a:off x="4709160" y="23864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DP sex ↓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1"/>
          <p:cNvSpPr/>
          <p:nvPr/>
        </p:nvSpPr>
        <p:spPr>
          <a:xfrm>
            <a:off x="5989320" y="238644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DP race ↓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Connector 12"/>
          <p:cNvCxnSpPr/>
          <p:nvPr/>
        </p:nvCxnSpPr>
        <p:spPr>
          <a:xfrm>
            <a:off x="777240" y="2806920"/>
            <a:ext cx="6401160" cy="360"/>
          </a:xfrm>
          <a:prstGeom prst="straightConnector1">
            <a:avLst/>
          </a:prstGeom>
          <a:ln w="11430">
            <a:solidFill>
              <a:srgbClr val="2A2A2A"/>
            </a:solidFill>
            <a:round/>
          </a:ln>
        </p:spPr>
      </p:cxnSp>
      <p:sp>
        <p:nvSpPr>
          <p:cNvPr id="274" name="TextBox 13"/>
          <p:cNvSpPr/>
          <p:nvPr/>
        </p:nvSpPr>
        <p:spPr>
          <a:xfrm>
            <a:off x="777240" y="285300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FADO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4"/>
          <p:cNvSpPr/>
          <p:nvPr/>
        </p:nvSpPr>
        <p:spPr>
          <a:xfrm>
            <a:off x="2331720" y="285300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0.7979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5"/>
          <p:cNvSpPr/>
          <p:nvPr/>
        </p:nvSpPr>
        <p:spPr>
          <a:xfrm>
            <a:off x="3520440" y="285300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0.0688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6"/>
          <p:cNvSpPr/>
          <p:nvPr/>
        </p:nvSpPr>
        <p:spPr>
          <a:xfrm>
            <a:off x="4709160" y="285300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0.0234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7"/>
          <p:cNvSpPr/>
          <p:nvPr/>
        </p:nvSpPr>
        <p:spPr>
          <a:xfrm>
            <a:off x="5989320" y="285300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0.0243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8"/>
          <p:cNvSpPr/>
          <p:nvPr/>
        </p:nvSpPr>
        <p:spPr>
          <a:xfrm>
            <a:off x="777240" y="327348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Aranyani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9"/>
          <p:cNvSpPr/>
          <p:nvPr/>
        </p:nvSpPr>
        <p:spPr>
          <a:xfrm>
            <a:off x="2331720" y="327348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0.8005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0"/>
          <p:cNvSpPr/>
          <p:nvPr/>
        </p:nvSpPr>
        <p:spPr>
          <a:xfrm>
            <a:off x="3520440" y="327348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0.0727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1"/>
          <p:cNvSpPr/>
          <p:nvPr/>
        </p:nvSpPr>
        <p:spPr>
          <a:xfrm>
            <a:off x="4709160" y="327348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0.0283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2"/>
          <p:cNvSpPr/>
          <p:nvPr/>
        </p:nvSpPr>
        <p:spPr>
          <a:xfrm>
            <a:off x="5989320" y="327348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0.0294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3"/>
          <p:cNvSpPr/>
          <p:nvPr/>
        </p:nvSpPr>
        <p:spPr>
          <a:xfrm>
            <a:off x="777240" y="369432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ARF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4"/>
          <p:cNvSpPr/>
          <p:nvPr/>
        </p:nvSpPr>
        <p:spPr>
          <a:xfrm>
            <a:off x="2331720" y="369432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0.7446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5"/>
          <p:cNvSpPr/>
          <p:nvPr/>
        </p:nvSpPr>
        <p:spPr>
          <a:xfrm>
            <a:off x="3520440" y="369432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0.1497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6"/>
          <p:cNvSpPr/>
          <p:nvPr/>
        </p:nvSpPr>
        <p:spPr>
          <a:xfrm>
            <a:off x="4709160" y="369432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0.0735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7"/>
          <p:cNvSpPr/>
          <p:nvPr/>
        </p:nvSpPr>
        <p:spPr>
          <a:xfrm>
            <a:off x="5989320" y="369432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0.0620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8"/>
          <p:cNvSpPr/>
          <p:nvPr/>
        </p:nvSpPr>
        <p:spPr>
          <a:xfrm>
            <a:off x="777240" y="411480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RFR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9"/>
          <p:cNvSpPr/>
          <p:nvPr/>
        </p:nvSpPr>
        <p:spPr>
          <a:xfrm>
            <a:off x="2331720" y="411480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0.7779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0"/>
          <p:cNvSpPr/>
          <p:nvPr/>
        </p:nvSpPr>
        <p:spPr>
          <a:xfrm>
            <a:off x="3520440" y="4114800"/>
            <a:ext cx="1188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0.1427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1"/>
          <p:cNvSpPr/>
          <p:nvPr/>
        </p:nvSpPr>
        <p:spPr>
          <a:xfrm>
            <a:off x="4709160" y="411480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0.0724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32"/>
          <p:cNvSpPr/>
          <p:nvPr/>
        </p:nvSpPr>
        <p:spPr>
          <a:xfrm>
            <a:off x="5989320" y="4114800"/>
            <a:ext cx="12798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250" b="0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0.0591</a:t>
            </a:r>
            <a:endParaRPr lang="pt-PT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Connector 33"/>
          <p:cNvCxnSpPr/>
          <p:nvPr/>
        </p:nvCxnSpPr>
        <p:spPr>
          <a:xfrm>
            <a:off x="777240" y="4581000"/>
            <a:ext cx="6401160" cy="360"/>
          </a:xfrm>
          <a:prstGeom prst="straightConnector1">
            <a:avLst/>
          </a:prstGeom>
          <a:ln w="17780">
            <a:solidFill>
              <a:srgbClr val="2A2A2A"/>
            </a:solidFill>
            <a:round/>
          </a:ln>
        </p:spPr>
      </p:cxnSp>
      <p:sp>
        <p:nvSpPr>
          <p:cNvPr id="295" name="TextBox 34"/>
          <p:cNvSpPr/>
          <p:nvPr/>
        </p:nvSpPr>
        <p:spPr>
          <a:xfrm>
            <a:off x="777240" y="47181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050" b="0" i="1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DP = joint violation over the four cells (optimised);  DP sex / DP race = marginal diagnostics.  Bold = best mean.</a:t>
            </a:r>
            <a:endParaRPr lang="pt-P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5"/>
          <p:cNvSpPr/>
          <p:nvPr/>
        </p:nvSpPr>
        <p:spPr>
          <a:xfrm>
            <a:off x="7635240" y="237744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The controller now measurably wins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36"/>
          <p:cNvSpPr/>
          <p:nvPr/>
        </p:nvSpPr>
        <p:spPr>
          <a:xfrm>
            <a:off x="7635240" y="2834640"/>
            <a:ext cx="37944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vs the controller-free forest: DP −0.38pp, significant under </a:t>
            </a:r>
            <a:r>
              <a:rPr lang="en-US" sz="135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both</a:t>
            </a: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Wilcoxon (p&lt;0.001) and Welch (p&lt;0.01) — where the marginal view was only a tie.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37"/>
          <p:cNvSpPr/>
          <p:nvPr/>
        </p:nvSpPr>
        <p:spPr>
          <a:xfrm>
            <a:off x="7635240" y="452628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Gerrymandering, confirmed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38"/>
          <p:cNvSpPr/>
          <p:nvPr/>
        </p:nvSpPr>
        <p:spPr>
          <a:xfrm>
            <a:off x="7635240" y="4983480"/>
            <a:ext cx="37944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8000"/>
              </a:lnSpc>
              <a:spcAft>
                <a:spcPts val="601"/>
              </a:spcAft>
            </a:pPr>
            <a:r>
              <a:rPr lang="en-US" sz="135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Intersectional-to-worst-marginal DP ratio ≈ 2.8 (FADO), 2.5 (Aranyani), ~2.0 (ARF/RFR): the fairest learners hide the largest joint gap.</a:t>
            </a:r>
            <a:endParaRPr lang="pt-PT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2"/>
          <p:cNvSpPr/>
          <p:nvPr/>
        </p:nvSpPr>
        <p:spPr>
          <a:xfrm>
            <a:off x="914400" y="278892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40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7. </a:t>
            </a:r>
            <a:r>
              <a:rPr lang="en-US" sz="4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Takeaways &amp; Next Steps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2"/>
          <p:cNvSpPr/>
          <p:nvPr/>
        </p:nvSpPr>
        <p:spPr>
          <a:xfrm>
            <a:off x="457200" y="237600"/>
            <a:ext cx="566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FADO: A Reaction Controller for Fairness-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9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Aware Online Learning Under Concept Drift</a:t>
            </a:r>
            <a:endParaRPr lang="pt-P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3"/>
          <p:cNvSpPr/>
          <p:nvPr/>
        </p:nvSpPr>
        <p:spPr>
          <a:xfrm>
            <a:off x="3840480" y="274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0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7.Takeaways &amp; Next Steps</a:t>
            </a:r>
            <a:endParaRPr lang="pt-P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4"/>
          <p:cNvSpPr/>
          <p:nvPr/>
        </p:nvSpPr>
        <p:spPr>
          <a:xfrm>
            <a:off x="10058400" y="2376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141414"/>
                </a:solidFill>
                <a:effectLst/>
                <a:uFillTx/>
                <a:latin typeface="Courier New"/>
              </a:rPr>
              <a:t>19</a:t>
            </a: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Courier New"/>
              </a:rPr>
              <a:t>/20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5"/>
          <p:cNvSpPr/>
          <p:nvPr/>
        </p:nvSpPr>
        <p:spPr>
          <a:xfrm>
            <a:off x="777240" y="128016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2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What we learned — and what's next</a:t>
            </a:r>
            <a:endParaRPr lang="pt-P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6"/>
          <p:cNvSpPr/>
          <p:nvPr/>
        </p:nvSpPr>
        <p:spPr>
          <a:xfrm>
            <a:off x="777240" y="21945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Takeaways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7"/>
          <p:cNvSpPr/>
          <p:nvPr/>
        </p:nvSpPr>
        <p:spPr>
          <a:xfrm>
            <a:off x="777240" y="2651760"/>
            <a:ext cx="64004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RQ1.</a:t>
            </a:r>
            <a:r>
              <a:rPr lang="en-US" sz="15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Drift is a fairness problem — it inflates the DP of accuracy-only and static-fair baselines alike.</a:t>
            </a:r>
            <a:endParaRPr lang="pt-P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RQ2.</a:t>
            </a:r>
            <a:r>
              <a:rPr lang="en-US" sz="15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An adaptive fair learner keeps both utility and fairness; the controller earns its keep on abrupt shift.</a:t>
            </a:r>
            <a:endParaRPr lang="pt-P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Design.</a:t>
            </a:r>
            <a:r>
              <a:rPr lang="en-US" sz="15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The fairness objective must match the harm: node-level DP + a joint group index makes the penalty cheap and the controller's gain measurable.</a:t>
            </a:r>
            <a:endParaRPr lang="pt-P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8"/>
          <p:cNvSpPr/>
          <p:nvPr/>
        </p:nvSpPr>
        <p:spPr>
          <a:xfrm>
            <a:off x="7635240" y="2194560"/>
            <a:ext cx="3794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Next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9"/>
          <p:cNvSpPr/>
          <p:nvPr/>
        </p:nvSpPr>
        <p:spPr>
          <a:xfrm>
            <a:off x="7635240" y="2651760"/>
            <a:ext cx="3794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500" b="1" u="sng" strike="noStrike">
                <a:solidFill>
                  <a:srgbClr val="262626"/>
                </a:solidFill>
                <a:effectLst/>
                <a:uFillTx/>
                <a:latin typeface="Arial"/>
              </a:rPr>
              <a:t>Controller ablation</a:t>
            </a:r>
            <a:r>
              <a:rPr lang="en-US" sz="15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— isolate each phase; the most targetable point.</a:t>
            </a:r>
            <a:endParaRPr lang="pt-P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Optimise EO directly</a:t>
            </a:r>
            <a:r>
              <a:rPr lang="en-US" sz="15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(wire the existing EO regulariser into the gradient).</a:t>
            </a:r>
            <a:endParaRPr lang="pt-P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1199"/>
              </a:spcAft>
            </a:pPr>
            <a:r>
              <a:rPr lang="en-US" sz="1500" b="1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Finish the COMPAS intersectional sweep</a:t>
            </a:r>
            <a:r>
              <a:rPr lang="en-US" sz="15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 and re-verify gerrymandering.</a:t>
            </a:r>
            <a:endParaRPr lang="pt-P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2"/>
          <p:cNvSpPr/>
          <p:nvPr/>
        </p:nvSpPr>
        <p:spPr>
          <a:xfrm>
            <a:off x="822960" y="246888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40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Fairness that adapts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"/>
          <p:cNvSpPr/>
          <p:nvPr/>
        </p:nvSpPr>
        <p:spPr>
          <a:xfrm>
            <a:off x="841320" y="352044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lang="en-US" sz="1900" b="0" u="none" strike="noStrike">
                <a:solidFill>
                  <a:srgbClr val="262626"/>
                </a:solidFill>
                <a:effectLst/>
                <a:uFillTx/>
                <a:latin typeface="Arial"/>
              </a:rPr>
              <a:t>A drift-aware controller keeps an intersectionally-fair oblique forest fair </a:t>
            </a:r>
            <a:r>
              <a:rPr lang="en-US" sz="1900" b="1" u="none" strike="noStrike">
                <a:solidFill>
                  <a:srgbClr val="DA0725"/>
                </a:solidFill>
                <a:effectLst/>
                <a:uFillTx/>
                <a:latin typeface="Arial"/>
              </a:rPr>
              <a:t>as the distribution moves.</a:t>
            </a:r>
            <a:endParaRPr lang="pt-PT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4"/>
          <p:cNvSpPr/>
          <p:nvPr/>
        </p:nvSpPr>
        <p:spPr>
          <a:xfrm>
            <a:off x="841320" y="475488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141414"/>
                </a:solidFill>
                <a:effectLst/>
                <a:uFillTx/>
                <a:latin typeface="Arial"/>
              </a:rPr>
              <a:t>Thank you — questions &amp; discussion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5"/>
          <p:cNvSpPr/>
          <p:nvPr/>
        </p:nvSpPr>
        <p:spPr>
          <a:xfrm>
            <a:off x="841320" y="521208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9A9A9A"/>
                </a:solidFill>
                <a:effectLst/>
                <a:uFillTx/>
                <a:latin typeface="Arial"/>
              </a:rPr>
              <a:t>Tiago Silva · CISUC Data-Centric AI Lab · FADO (submitted to ICDM 2026)</a:t>
            </a:r>
            <a:endParaRPr lang="pt-P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6" descr="cisuc_logo.png"/>
          <p:cNvPicPr/>
          <p:nvPr/>
        </p:nvPicPr>
        <p:blipFill>
          <a:blip r:embed="rId1"/>
          <a:stretch/>
        </p:blipFill>
        <p:spPr>
          <a:xfrm>
            <a:off x="822960" y="6126480"/>
            <a:ext cx="2011320" cy="29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pt-PT</dc:language>
  <cp:lastModifiedBy/>
  <dcterms:modified xsi:type="dcterms:W3CDTF">2026-07-07T11:37:13Z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