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ICDM 2026 submission. I'll spend most of the time on the design decisions — why a soft-routed oblique forest, the node-level fairness regulariser, the intersectional extension, and the dual-ADWIN controller — then show both the marginal (submitted) and the new intersectional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One-sentence framing: drift is usually studied as an accuracy problem, but it is also a fairness problem, and the two research questions separate measuring the effect (RQ1) from fixing it (RQ2).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prior families each solve half the problem. Rather than invent a new base learner, we keep Aranyani's in-processing regulariser and add the missing adaptive layer. Being explicit that Aranyani is not ours matters for the contribution framing.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crux of why the base learner is what it is. Oblique gives expressive splits; soft routing makes it differentiable; and because each node is a probabilistic prediction, the DP penalty applies node-wise. Parameter isolation keeps it cheap and memoryless — essential for streams. And critically, the temperature is exactly the knob the controller later sharpens on confirmed drift.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regulariser is a per-node DP gap. The surrogate is deliberately Huber-style: quadratic near zero for a clean gradient, linear in the tail so outliers don't blow up the step — but with unit slope rather than the textbook delta slope, giving a firmer correction past the threshold. We also define DP as deviation from the group mean specifically so the reported metric matches what the regulariser optimises.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multi-attribute extension is the main new work this cycle. Marginal-only fairness is a known loophole; collapsing two binary attributes into a single four-valued composite closes it, and because the node regulariser is written for arbitrary K, no learner code changed — only the group index in the loaders.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controller runs two ADWIN detectors on the error stream — a sensitive pre-warm and a strict confirmation. On warning it gently raises the LR; on confirmation it spikes the LR and sharpens the routing temperature, then anneals both back. ADWIN's cut bound scales with stream length, which is why the deltas differ between the long Folktables stream and the short COMPAS one. The label-noise guard is what stops noise from thrashing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it together: test-then-train on each sample. The blue path is the forest; the orange path is the detector firing the controller, which modulates the learning rate and temperature feeding the gradient step.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regimes on purpose: Folktables is a real but gradual cross-year shift; COMPAS is a short, sharp, synthetic subpopulation shift with a known ground truth. The controller-free Aranyani ablation is the key comparison — same everything except the controller, so the gap isolates its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submitted result, single-attribute. Two messages. RQ1: both ARF and RFR carry roughly double FADO's DP on both datasets — drift degrades fairness for accuracy-only AND static-fair methods. And the controller's benefit is regime-dependent: it clearly helps on the abrupt COMPAS shift, but on the gradual Folktables shift it merely ties the controller-free forest, which is mechanistically sensible.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 result. Moving to the joint objective, the controller's edge over the controller-free forest becomes significant under both tests, where the single-attribute view only saw a tie — the intersectional objective is more sensitive to exactly what the controller fixes. And the gerrymandering ratio shows the fair learners concentrate their residual unfairness in the joint cells that marginal metrics can't see.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takeaways mapped to the questions and the design. Drift erodes fairness (RQ1); an adaptive fair learner keeps both utility and fairness, with the controller earning its keep on abrupt shift (RQ2); and the methodological lesson is that the fairness objective has to be aligned with the harm you actually care about.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status. The intersectional extension and the Folktables story are done and verified. The next priority I want to defend is a full controller ablation — it's the weakest, most attackable part and the biggest lever for a future submission. Then direct EO optimisation and the COMPAS intersectional sweep.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thesis and open the floor. Expect questions on the controller ablation, the regime-dependence, and the COMPAS intersectional numbers still to come.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77240" y="749808"/>
            <a:ext cx="182880" cy="182880"/>
          </a:xfrm>
          <a:prstGeom prst="ellipse">
            <a:avLst/>
          </a:prstGeom>
          <a:solidFill>
            <a:srgbClr val="285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120" y="749808"/>
            <a:ext cx="182880" cy="182880"/>
          </a:xfrm>
          <a:prstGeom prst="ellipse">
            <a:avLst/>
          </a:prstGeom>
          <a:solidFill>
            <a:srgbClr val="F57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43000" y="749808"/>
            <a:ext cx="182880" cy="182880"/>
          </a:xfrm>
          <a:prstGeom prst="ellipse">
            <a:avLst/>
          </a:prstGeom>
          <a:solidFill>
            <a:srgbClr val="379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65960"/>
            <a:ext cx="10698480" cy="1371600"/>
          </a:xfrm>
          <a:prstGeom prst="rect">
            <a:avLst/>
          </a:prstGeom>
          <a:noFill/>
        </p:spPr>
        <p:txBody>
          <a:bodyPr wrap="square" anchor="t" lIns="0" rIns="0" tIns="0" bIns="0">
            <a:spAutoFit/>
          </a:bodyPr>
          <a:lstStyle/>
          <a:p>
            <a:pPr algn="l">
              <a:lnSpc>
                <a:spcPct val="100000"/>
              </a:lnSpc>
              <a:spcBef>
                <a:spcPts val="0"/>
              </a:spcBef>
              <a:spcAft>
                <a:spcPts val="400"/>
              </a:spcAft>
            </a:pPr>
            <a:r>
              <a:rPr sz="8800" b="1" i="0">
                <a:solidFill>
                  <a:srgbClr val="FFFFFF"/>
                </a:solidFill>
                <a:latin typeface="Calibri"/>
              </a:rPr>
              <a:t>FADO</a:t>
            </a:r>
          </a:p>
        </p:txBody>
      </p:sp>
      <p:sp>
        <p:nvSpPr>
          <p:cNvPr id="7" name="TextBox 6"/>
          <p:cNvSpPr txBox="1"/>
          <p:nvPr/>
        </p:nvSpPr>
        <p:spPr>
          <a:xfrm>
            <a:off x="795528" y="3200400"/>
            <a:ext cx="10607040" cy="914400"/>
          </a:xfrm>
          <a:prstGeom prst="rect">
            <a:avLst/>
          </a:prstGeom>
          <a:noFill/>
        </p:spPr>
        <p:txBody>
          <a:bodyPr wrap="square" anchor="t" lIns="0" rIns="0" tIns="0" bIns="0">
            <a:spAutoFit/>
          </a:bodyPr>
          <a:lstStyle/>
          <a:p>
            <a:pPr algn="l">
              <a:lnSpc>
                <a:spcPct val="100000"/>
              </a:lnSpc>
              <a:spcBef>
                <a:spcPts val="0"/>
              </a:spcBef>
              <a:spcAft>
                <a:spcPts val="400"/>
              </a:spcAft>
            </a:pPr>
            <a:r>
              <a:rPr sz="2500" b="0" i="0">
                <a:solidFill>
                  <a:srgbClr val="E6ECF7"/>
                </a:solidFill>
                <a:latin typeface="Calibri"/>
              </a:rPr>
              <a:t>A Reaction Controller for Fairness-Aware Online Learning </a:t>
            </a:r>
            <a:r>
              <a:rPr sz="2500" b="1" i="0">
                <a:solidFill>
                  <a:srgbClr val="F57823"/>
                </a:solidFill>
                <a:latin typeface="Calibri"/>
              </a:rPr>
              <a:t>Under Concept Drift</a:t>
            </a:r>
          </a:p>
        </p:txBody>
      </p:sp>
      <p:sp>
        <p:nvSpPr>
          <p:cNvPr id="8" name="TextBox 7"/>
          <p:cNvSpPr txBox="1"/>
          <p:nvPr/>
        </p:nvSpPr>
        <p:spPr>
          <a:xfrm>
            <a:off x="795528" y="4160520"/>
            <a:ext cx="10607040"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0" i="1">
                <a:solidFill>
                  <a:srgbClr val="9FB4D8"/>
                </a:solidFill>
                <a:latin typeface="Calibri"/>
              </a:rPr>
              <a:t>Coupling the Aranyani fair oblique forest with a dual-ADWIN detector and an adaptive reaction controller</a:t>
            </a:r>
          </a:p>
        </p:txBody>
      </p:sp>
      <p:sp>
        <p:nvSpPr>
          <p:cNvPr id="9" name="TextBox 8"/>
          <p:cNvSpPr txBox="1"/>
          <p:nvPr/>
        </p:nvSpPr>
        <p:spPr>
          <a:xfrm>
            <a:off x="795528" y="5394960"/>
            <a:ext cx="10058400" cy="457200"/>
          </a:xfrm>
          <a:prstGeom prst="rect">
            <a:avLst/>
          </a:prstGeom>
          <a:noFill/>
        </p:spPr>
        <p:txBody>
          <a:bodyPr wrap="square" anchor="t" lIns="0" rIns="0" tIns="0" bIns="0">
            <a:spAutoFit/>
          </a:bodyPr>
          <a:lstStyle/>
          <a:p>
            <a:pPr algn="l">
              <a:lnSpc>
                <a:spcPct val="100000"/>
              </a:lnSpc>
              <a:spcBef>
                <a:spcPts val="0"/>
              </a:spcBef>
              <a:spcAft>
                <a:spcPts val="400"/>
              </a:spcAft>
            </a:pPr>
            <a:r>
              <a:rPr sz="1900" b="1" i="0">
                <a:solidFill>
                  <a:srgbClr val="FFFFFF"/>
                </a:solidFill>
                <a:latin typeface="Calibri"/>
              </a:rPr>
              <a:t>Tiago Silva</a:t>
            </a:r>
          </a:p>
        </p:txBody>
      </p:sp>
      <p:sp>
        <p:nvSpPr>
          <p:cNvPr id="10" name="TextBox 9"/>
          <p:cNvSpPr txBox="1"/>
          <p:nvPr/>
        </p:nvSpPr>
        <p:spPr>
          <a:xfrm>
            <a:off x="795528" y="5779008"/>
            <a:ext cx="10058400" cy="457200"/>
          </a:xfrm>
          <a:prstGeom prst="rect">
            <a:avLst/>
          </a:prstGeom>
          <a:noFill/>
        </p:spPr>
        <p:txBody>
          <a:bodyPr wrap="square" anchor="t" lIns="0" rIns="0" tIns="0" bIns="0">
            <a:spAutoFit/>
          </a:bodyPr>
          <a:lstStyle/>
          <a:p>
            <a:pPr algn="l">
              <a:lnSpc>
                <a:spcPct val="100000"/>
              </a:lnSpc>
              <a:spcBef>
                <a:spcPts val="0"/>
              </a:spcBef>
              <a:spcAft>
                <a:spcPts val="400"/>
              </a:spcAft>
            </a:pPr>
            <a:r>
              <a:rPr sz="1400" b="0" i="0">
                <a:solidFill>
                  <a:srgbClr val="9FB4D8"/>
                </a:solidFill>
                <a:latin typeface="Calibri"/>
              </a:rPr>
              <a:t>Submitted to ICDM 2026  ·  research-group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57823"/>
                </a:solidFill>
                <a:latin typeface="Calibri"/>
              </a:rPr>
              <a:t>PROBLEM &amp; RESEARCH QUESTIONS</a:t>
            </a:r>
          </a:p>
        </p:txBody>
      </p:sp>
      <p:sp>
        <p:nvSpPr>
          <p:cNvPr id="4" name="TextBox 3"/>
          <p:cNvSpPr txBox="1"/>
          <p:nvPr/>
        </p:nvSpPr>
        <p:spPr>
          <a:xfrm>
            <a:off x="777240" y="777240"/>
            <a:ext cx="1060704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A38"/>
                </a:solidFill>
                <a:latin typeface="Calibri"/>
              </a:rPr>
              <a:t>Concept drift degrades fairness, not only accuracy</a:t>
            </a:r>
          </a:p>
        </p:txBody>
      </p:sp>
      <p:sp>
        <p:nvSpPr>
          <p:cNvPr id="5" name="TextBox 4"/>
          <p:cNvSpPr txBox="1"/>
          <p:nvPr/>
        </p:nvSpPr>
        <p:spPr>
          <a:xfrm>
            <a:off x="777240" y="1783080"/>
            <a:ext cx="6126480" cy="3657600"/>
          </a:xfrm>
          <a:prstGeom prst="rect">
            <a:avLst/>
          </a:prstGeom>
          <a:noFill/>
        </p:spPr>
        <p:txBody>
          <a:bodyPr wrap="square" anchor="t" lIns="0" rIns="0" tIns="0" bIns="0">
            <a:spAutoFit/>
          </a:bodyPr>
          <a:lstStyle/>
          <a:p>
            <a:pPr algn="l">
              <a:lnSpc>
                <a:spcPct val="112000"/>
              </a:lnSpc>
              <a:spcBef>
                <a:spcPts val="0"/>
              </a:spcBef>
              <a:spcAft>
                <a:spcPts val="1300"/>
              </a:spcAft>
            </a:pPr>
            <a:r>
              <a:rPr sz="1650" b="0" i="0">
                <a:solidFill>
                  <a:srgbClr val="384657"/>
                </a:solidFill>
                <a:latin typeface="Calibri"/>
              </a:rPr>
              <a:t>Fairness-aware learners are trained assuming a </a:t>
            </a:r>
            <a:r>
              <a:rPr sz="1650" b="1" i="0">
                <a:solidFill>
                  <a:srgbClr val="384657"/>
                </a:solidFill>
                <a:latin typeface="Calibri"/>
              </a:rPr>
              <a:t>stationary</a:t>
            </a:r>
            <a:r>
              <a:rPr sz="1650" b="0" i="0">
                <a:solidFill>
                  <a:srgbClr val="384657"/>
                </a:solidFill>
                <a:latin typeface="Calibri"/>
              </a:rPr>
              <a:t> distribution.</a:t>
            </a:r>
          </a:p>
          <a:p>
            <a:pPr algn="l">
              <a:lnSpc>
                <a:spcPct val="112000"/>
              </a:lnSpc>
              <a:spcBef>
                <a:spcPts val="0"/>
              </a:spcBef>
              <a:spcAft>
                <a:spcPts val="1300"/>
              </a:spcAft>
            </a:pPr>
            <a:r>
              <a:rPr sz="1650" b="0" i="0">
                <a:solidFill>
                  <a:srgbClr val="384657"/>
                </a:solidFill>
                <a:latin typeface="Calibri"/>
              </a:rPr>
              <a:t>Real streams drift: </a:t>
            </a:r>
            <a:r>
              <a:rPr sz="1650" b="1" i="0">
                <a:solidFill>
                  <a:srgbClr val="285AE6"/>
                </a:solidFill>
                <a:latin typeface="Calibri"/>
              </a:rPr>
              <a:t>P(y | x) and base rates move</a:t>
            </a:r>
            <a:r>
              <a:rPr sz="1650" b="0" i="0">
                <a:solidFill>
                  <a:srgbClr val="384657"/>
                </a:solidFill>
                <a:latin typeface="Calibri"/>
              </a:rPr>
              <a:t> with policy, behavioural and economic change.</a:t>
            </a:r>
          </a:p>
          <a:p>
            <a:pPr algn="l">
              <a:lnSpc>
                <a:spcPct val="112000"/>
              </a:lnSpc>
              <a:spcBef>
                <a:spcPts val="0"/>
              </a:spcBef>
              <a:spcAft>
                <a:spcPts val="1300"/>
              </a:spcAft>
            </a:pPr>
            <a:r>
              <a:rPr sz="1650" b="0" i="0">
                <a:solidFill>
                  <a:srgbClr val="384657"/>
                </a:solidFill>
                <a:latin typeface="Calibri"/>
              </a:rPr>
              <a:t>Drift breaks the statistical relationships fairness guarantees rest on — so </a:t>
            </a:r>
            <a:r>
              <a:rPr sz="1650" b="1" i="0">
                <a:solidFill>
                  <a:srgbClr val="F57823"/>
                </a:solidFill>
                <a:latin typeface="Calibri"/>
              </a:rPr>
              <a:t>bias can grow while accuracy looks stable</a:t>
            </a:r>
            <a:r>
              <a:rPr sz="1650" b="0" i="0">
                <a:solidFill>
                  <a:srgbClr val="384657"/>
                </a:solidFill>
                <a:latin typeface="Calibri"/>
              </a:rPr>
              <a:t>.</a:t>
            </a:r>
          </a:p>
          <a:p>
            <a:pPr algn="l">
              <a:lnSpc>
                <a:spcPct val="112000"/>
              </a:lnSpc>
              <a:spcBef>
                <a:spcPts val="0"/>
              </a:spcBef>
              <a:spcAft>
                <a:spcPts val="1300"/>
              </a:spcAft>
            </a:pPr>
            <a:r>
              <a:rPr sz="1650" b="0" i="0">
                <a:solidFill>
                  <a:srgbClr val="384657"/>
                </a:solidFill>
                <a:latin typeface="Calibri"/>
              </a:rPr>
              <a:t>Existing methods pick one side: fair-</a:t>
            </a:r>
            <a:r>
              <a:rPr sz="1650" b="0" i="1">
                <a:solidFill>
                  <a:srgbClr val="384657"/>
                </a:solidFill>
                <a:latin typeface="Calibri"/>
              </a:rPr>
              <a:t>or</a:t>
            </a:r>
            <a:r>
              <a:rPr sz="1650" b="0" i="0">
                <a:solidFill>
                  <a:srgbClr val="384657"/>
                </a:solidFill>
                <a:latin typeface="Calibri"/>
              </a:rPr>
              <a:t>-adaptive, never both.</a:t>
            </a:r>
          </a:p>
        </p:txBody>
      </p:sp>
      <p:sp>
        <p:nvSpPr>
          <p:cNvPr id="6" name="Rounded Rectangle 5"/>
          <p:cNvSpPr/>
          <p:nvPr/>
        </p:nvSpPr>
        <p:spPr>
          <a:xfrm>
            <a:off x="7315200" y="1783080"/>
            <a:ext cx="4114800" cy="155448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589520" y="2057400"/>
            <a:ext cx="475488" cy="475488"/>
          </a:xfrm>
          <a:prstGeom prst="ellipse">
            <a:avLst/>
          </a:prstGeom>
          <a:solidFill>
            <a:srgbClr val="285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057400"/>
            <a:ext cx="475488" cy="475488"/>
          </a:xfrm>
          <a:prstGeom prst="rect">
            <a:avLst/>
          </a:prstGeom>
          <a:noFill/>
        </p:spPr>
        <p:txBody>
          <a:bodyPr wrap="square" anchor="ctr" lIns="0" rIns="0" tIns="0" bIns="0">
            <a:spAutoFit/>
          </a:bodyPr>
          <a:lstStyle/>
          <a:p>
            <a:pPr algn="ctr">
              <a:lnSpc>
                <a:spcPct val="100000"/>
              </a:lnSpc>
              <a:spcBef>
                <a:spcPts val="0"/>
              </a:spcBef>
              <a:spcAft>
                <a:spcPts val="400"/>
              </a:spcAft>
            </a:pPr>
            <a:r>
              <a:rPr sz="1600" b="1" i="0">
                <a:solidFill>
                  <a:srgbClr val="FFFFFF"/>
                </a:solidFill>
                <a:latin typeface="Calibri"/>
              </a:rPr>
              <a:t>1</a:t>
            </a:r>
          </a:p>
        </p:txBody>
      </p:sp>
      <p:sp>
        <p:nvSpPr>
          <p:cNvPr id="9" name="TextBox 8"/>
          <p:cNvSpPr txBox="1"/>
          <p:nvPr/>
        </p:nvSpPr>
        <p:spPr>
          <a:xfrm>
            <a:off x="8229600" y="2002536"/>
            <a:ext cx="301752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285AE6"/>
                </a:solidFill>
                <a:latin typeface="Calibri"/>
              </a:rPr>
              <a:t>RQ1 — Effect</a:t>
            </a:r>
          </a:p>
        </p:txBody>
      </p:sp>
      <p:sp>
        <p:nvSpPr>
          <p:cNvPr id="10" name="TextBox 9"/>
          <p:cNvSpPr txBox="1"/>
          <p:nvPr/>
        </p:nvSpPr>
        <p:spPr>
          <a:xfrm>
            <a:off x="8229600" y="2386584"/>
            <a:ext cx="2971800" cy="822959"/>
          </a:xfrm>
          <a:prstGeom prst="rect">
            <a:avLst/>
          </a:prstGeom>
          <a:noFill/>
        </p:spPr>
        <p:txBody>
          <a:bodyPr wrap="square" anchor="t" lIns="0" rIns="0" tIns="0" bIns="0">
            <a:spAutoFit/>
          </a:bodyPr>
          <a:lstStyle/>
          <a:p>
            <a:pPr algn="l">
              <a:lnSpc>
                <a:spcPct val="108000"/>
              </a:lnSpc>
              <a:spcBef>
                <a:spcPts val="0"/>
              </a:spcBef>
              <a:spcAft>
                <a:spcPts val="400"/>
              </a:spcAft>
            </a:pPr>
            <a:r>
              <a:rPr sz="1450" b="0" i="0">
                <a:solidFill>
                  <a:srgbClr val="1E2A38"/>
                </a:solidFill>
                <a:latin typeface="Calibri"/>
              </a:rPr>
              <a:t>To what extent does concept drift affect group-fairness metrics in online learning?</a:t>
            </a:r>
          </a:p>
        </p:txBody>
      </p:sp>
      <p:sp>
        <p:nvSpPr>
          <p:cNvPr id="11" name="Rounded Rectangle 10"/>
          <p:cNvSpPr/>
          <p:nvPr/>
        </p:nvSpPr>
        <p:spPr>
          <a:xfrm>
            <a:off x="7315200" y="3520440"/>
            <a:ext cx="4114800" cy="178308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589520" y="3794760"/>
            <a:ext cx="475488" cy="475488"/>
          </a:xfrm>
          <a:prstGeom prst="ellipse">
            <a:avLst/>
          </a:prstGeom>
          <a:solidFill>
            <a:srgbClr val="F57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3794760"/>
            <a:ext cx="475488" cy="475488"/>
          </a:xfrm>
          <a:prstGeom prst="rect">
            <a:avLst/>
          </a:prstGeom>
          <a:noFill/>
        </p:spPr>
        <p:txBody>
          <a:bodyPr wrap="square" anchor="ctr" lIns="0" rIns="0" tIns="0" bIns="0">
            <a:spAutoFit/>
          </a:bodyPr>
          <a:lstStyle/>
          <a:p>
            <a:pPr algn="ctr">
              <a:lnSpc>
                <a:spcPct val="100000"/>
              </a:lnSpc>
              <a:spcBef>
                <a:spcPts val="0"/>
              </a:spcBef>
              <a:spcAft>
                <a:spcPts val="400"/>
              </a:spcAft>
            </a:pPr>
            <a:r>
              <a:rPr sz="1600" b="1" i="0">
                <a:solidFill>
                  <a:srgbClr val="FFFFFF"/>
                </a:solidFill>
                <a:latin typeface="Calibri"/>
              </a:rPr>
              <a:t>2</a:t>
            </a:r>
          </a:p>
        </p:txBody>
      </p:sp>
      <p:sp>
        <p:nvSpPr>
          <p:cNvPr id="14" name="TextBox 13"/>
          <p:cNvSpPr txBox="1"/>
          <p:nvPr/>
        </p:nvSpPr>
        <p:spPr>
          <a:xfrm>
            <a:off x="8229600" y="3739896"/>
            <a:ext cx="301752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57823"/>
                </a:solidFill>
                <a:latin typeface="Calibri"/>
              </a:rPr>
              <a:t>RQ2 — Remedy</a:t>
            </a:r>
          </a:p>
        </p:txBody>
      </p:sp>
      <p:sp>
        <p:nvSpPr>
          <p:cNvPr id="15" name="TextBox 14"/>
          <p:cNvSpPr txBox="1"/>
          <p:nvPr/>
        </p:nvSpPr>
        <p:spPr>
          <a:xfrm>
            <a:off x="8229600" y="4123944"/>
            <a:ext cx="2971800" cy="1051560"/>
          </a:xfrm>
          <a:prstGeom prst="rect">
            <a:avLst/>
          </a:prstGeom>
          <a:noFill/>
        </p:spPr>
        <p:txBody>
          <a:bodyPr wrap="square" anchor="t" lIns="0" rIns="0" tIns="0" bIns="0">
            <a:spAutoFit/>
          </a:bodyPr>
          <a:lstStyle/>
          <a:p>
            <a:pPr algn="l">
              <a:lnSpc>
                <a:spcPct val="108000"/>
              </a:lnSpc>
              <a:spcBef>
                <a:spcPts val="0"/>
              </a:spcBef>
              <a:spcAft>
                <a:spcPts val="400"/>
              </a:spcAft>
            </a:pPr>
            <a:r>
              <a:rPr sz="1450" b="0" i="0">
                <a:solidFill>
                  <a:srgbClr val="1E2A38"/>
                </a:solidFill>
                <a:latin typeface="Calibri"/>
              </a:rPr>
              <a:t>Can adaptive drift detection and response preserve fairness while maintaining predictive performance?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57823"/>
                </a:solidFill>
                <a:latin typeface="Calibri"/>
              </a:rPr>
              <a:t>POSITIONING &amp; DESIGN TARGET</a:t>
            </a:r>
          </a:p>
        </p:txBody>
      </p:sp>
      <p:sp>
        <p:nvSpPr>
          <p:cNvPr id="4" name="TextBox 3"/>
          <p:cNvSpPr txBox="1"/>
          <p:nvPr/>
        </p:nvSpPr>
        <p:spPr>
          <a:xfrm>
            <a:off x="777240" y="777240"/>
            <a:ext cx="1060704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A38"/>
                </a:solidFill>
                <a:latin typeface="Calibri"/>
              </a:rPr>
              <a:t>Keep the in-processing fairness; add the drift machinery</a:t>
            </a:r>
          </a:p>
        </p:txBody>
      </p:sp>
      <p:sp>
        <p:nvSpPr>
          <p:cNvPr id="5" name="Rounded Rectangle 4"/>
          <p:cNvSpPr/>
          <p:nvPr/>
        </p:nvSpPr>
        <p:spPr>
          <a:xfrm>
            <a:off x="777240" y="1783080"/>
            <a:ext cx="3246120" cy="233172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011680"/>
            <a:ext cx="2697479" cy="365760"/>
          </a:xfrm>
          <a:prstGeom prst="rect">
            <a:avLst/>
          </a:prstGeom>
          <a:noFill/>
        </p:spPr>
        <p:txBody>
          <a:bodyPr wrap="square" anchor="t" lIns="0" rIns="0" tIns="0" bIns="0">
            <a:spAutoFit/>
          </a:bodyPr>
          <a:lstStyle/>
          <a:p>
            <a:pPr algn="l">
              <a:lnSpc>
                <a:spcPct val="100000"/>
              </a:lnSpc>
              <a:spcBef>
                <a:spcPts val="0"/>
              </a:spcBef>
              <a:spcAft>
                <a:spcPts val="400"/>
              </a:spcAft>
            </a:pPr>
            <a:r>
              <a:rPr sz="1650" b="1" i="0">
                <a:solidFill>
                  <a:srgbClr val="1C7293"/>
                </a:solidFill>
                <a:latin typeface="Calibri"/>
              </a:rPr>
              <a:t>In-processing fair</a:t>
            </a:r>
          </a:p>
        </p:txBody>
      </p:sp>
      <p:sp>
        <p:nvSpPr>
          <p:cNvPr id="7" name="TextBox 6"/>
          <p:cNvSpPr txBox="1"/>
          <p:nvPr/>
        </p:nvSpPr>
        <p:spPr>
          <a:xfrm>
            <a:off x="1051560" y="2404872"/>
            <a:ext cx="2697479"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0" i="1">
                <a:solidFill>
                  <a:srgbClr val="64748D"/>
                </a:solidFill>
                <a:latin typeface="Calibri"/>
              </a:rPr>
              <a:t>e.g. Aranyani, RFR</a:t>
            </a:r>
          </a:p>
        </p:txBody>
      </p:sp>
      <p:sp>
        <p:nvSpPr>
          <p:cNvPr id="8" name="TextBox 7"/>
          <p:cNvSpPr txBox="1"/>
          <p:nvPr/>
        </p:nvSpPr>
        <p:spPr>
          <a:xfrm>
            <a:off x="1051560" y="2807208"/>
            <a:ext cx="2743200" cy="1188720"/>
          </a:xfrm>
          <a:prstGeom prst="rect">
            <a:avLst/>
          </a:prstGeom>
          <a:noFill/>
        </p:spPr>
        <p:txBody>
          <a:bodyPr wrap="square" anchor="t" lIns="0" rIns="0" tIns="0" bIns="0">
            <a:spAutoFit/>
          </a:bodyPr>
          <a:lstStyle/>
          <a:p>
            <a:pPr algn="l">
              <a:lnSpc>
                <a:spcPct val="102000"/>
              </a:lnSpc>
              <a:spcBef>
                <a:spcPts val="0"/>
              </a:spcBef>
              <a:spcAft>
                <a:spcPts val="500"/>
              </a:spcAft>
            </a:pPr>
            <a:r>
              <a:rPr sz="1250" b="0" i="0">
                <a:solidFill>
                  <a:srgbClr val="384657"/>
                </a:solidFill>
                <a:latin typeface="Calibri"/>
              </a:rPr>
              <a:t>Fairness enforced during training</a:t>
            </a:r>
          </a:p>
          <a:p>
            <a:pPr algn="l">
              <a:lnSpc>
                <a:spcPct val="102000"/>
              </a:lnSpc>
              <a:spcBef>
                <a:spcPts val="0"/>
              </a:spcBef>
              <a:spcAft>
                <a:spcPts val="500"/>
              </a:spcAft>
            </a:pPr>
            <a:r>
              <a:rPr sz="1250" b="0" i="0">
                <a:solidFill>
                  <a:srgbClr val="384657"/>
                </a:solidFill>
                <a:latin typeface="Calibri"/>
              </a:rPr>
              <a:t>No drift detection</a:t>
            </a:r>
          </a:p>
          <a:p>
            <a:pPr algn="l">
              <a:lnSpc>
                <a:spcPct val="102000"/>
              </a:lnSpc>
              <a:spcBef>
                <a:spcPts val="0"/>
              </a:spcBef>
              <a:spcAft>
                <a:spcPts val="500"/>
              </a:spcAft>
            </a:pPr>
            <a:r>
              <a:rPr sz="1250" b="0" i="0">
                <a:solidFill>
                  <a:srgbClr val="384657"/>
                </a:solidFill>
                <a:latin typeface="Calibri"/>
              </a:rPr>
              <a:t>Regulariser is non-adaptive</a:t>
            </a:r>
          </a:p>
        </p:txBody>
      </p:sp>
      <p:sp>
        <p:nvSpPr>
          <p:cNvPr id="9" name="Rounded Rectangle 8"/>
          <p:cNvSpPr/>
          <p:nvPr/>
        </p:nvSpPr>
        <p:spPr>
          <a:xfrm>
            <a:off x="4297679" y="1783080"/>
            <a:ext cx="3246120" cy="233172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1999" y="2011680"/>
            <a:ext cx="2697479" cy="365760"/>
          </a:xfrm>
          <a:prstGeom prst="rect">
            <a:avLst/>
          </a:prstGeom>
          <a:noFill/>
        </p:spPr>
        <p:txBody>
          <a:bodyPr wrap="square" anchor="t" lIns="0" rIns="0" tIns="0" bIns="0">
            <a:spAutoFit/>
          </a:bodyPr>
          <a:lstStyle/>
          <a:p>
            <a:pPr algn="l">
              <a:lnSpc>
                <a:spcPct val="100000"/>
              </a:lnSpc>
              <a:spcBef>
                <a:spcPts val="0"/>
              </a:spcBef>
              <a:spcAft>
                <a:spcPts val="400"/>
              </a:spcAft>
            </a:pPr>
            <a:r>
              <a:rPr sz="1650" b="1" i="0">
                <a:solidFill>
                  <a:srgbClr val="F57823"/>
                </a:solidFill>
                <a:latin typeface="Calibri"/>
              </a:rPr>
              <a:t>Drift-adaptive</a:t>
            </a:r>
          </a:p>
        </p:txBody>
      </p:sp>
      <p:sp>
        <p:nvSpPr>
          <p:cNvPr id="11" name="TextBox 10"/>
          <p:cNvSpPr txBox="1"/>
          <p:nvPr/>
        </p:nvSpPr>
        <p:spPr>
          <a:xfrm>
            <a:off x="4571999" y="2404872"/>
            <a:ext cx="2697479"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0" i="1">
                <a:solidFill>
                  <a:srgbClr val="64748D"/>
                </a:solidFill>
                <a:latin typeface="Calibri"/>
              </a:rPr>
              <a:t>e.g. ARF</a:t>
            </a:r>
          </a:p>
        </p:txBody>
      </p:sp>
      <p:sp>
        <p:nvSpPr>
          <p:cNvPr id="12" name="TextBox 11"/>
          <p:cNvSpPr txBox="1"/>
          <p:nvPr/>
        </p:nvSpPr>
        <p:spPr>
          <a:xfrm>
            <a:off x="4571999" y="2807208"/>
            <a:ext cx="2743200" cy="1188720"/>
          </a:xfrm>
          <a:prstGeom prst="rect">
            <a:avLst/>
          </a:prstGeom>
          <a:noFill/>
        </p:spPr>
        <p:txBody>
          <a:bodyPr wrap="square" anchor="t" lIns="0" rIns="0" tIns="0" bIns="0">
            <a:spAutoFit/>
          </a:bodyPr>
          <a:lstStyle/>
          <a:p>
            <a:pPr algn="l">
              <a:lnSpc>
                <a:spcPct val="102000"/>
              </a:lnSpc>
              <a:spcBef>
                <a:spcPts val="0"/>
              </a:spcBef>
              <a:spcAft>
                <a:spcPts val="500"/>
              </a:spcAft>
            </a:pPr>
            <a:r>
              <a:rPr sz="1250" b="0" i="0">
                <a:solidFill>
                  <a:srgbClr val="384657"/>
                </a:solidFill>
                <a:latin typeface="Calibri"/>
              </a:rPr>
              <a:t>Detect &amp; react to shift</a:t>
            </a:r>
          </a:p>
          <a:p>
            <a:pPr algn="l">
              <a:lnSpc>
                <a:spcPct val="102000"/>
              </a:lnSpc>
              <a:spcBef>
                <a:spcPts val="0"/>
              </a:spcBef>
              <a:spcAft>
                <a:spcPts val="500"/>
              </a:spcAft>
            </a:pPr>
            <a:r>
              <a:rPr sz="1250" b="0" i="0">
                <a:solidFill>
                  <a:srgbClr val="384657"/>
                </a:solidFill>
                <a:latin typeface="Calibri"/>
              </a:rPr>
              <a:t>Accuracy-driven only</a:t>
            </a:r>
          </a:p>
          <a:p>
            <a:pPr algn="l">
              <a:lnSpc>
                <a:spcPct val="102000"/>
              </a:lnSpc>
              <a:spcBef>
                <a:spcPts val="0"/>
              </a:spcBef>
              <a:spcAft>
                <a:spcPts val="500"/>
              </a:spcAft>
            </a:pPr>
            <a:r>
              <a:rPr sz="1250" b="0" i="0">
                <a:solidFill>
                  <a:srgbClr val="384657"/>
                </a:solidFill>
                <a:latin typeface="Calibri"/>
              </a:rPr>
              <a:t>No fairness mechanism</a:t>
            </a:r>
          </a:p>
        </p:txBody>
      </p:sp>
      <p:sp>
        <p:nvSpPr>
          <p:cNvPr id="13" name="Rounded Rectangle 12"/>
          <p:cNvSpPr/>
          <p:nvPr/>
        </p:nvSpPr>
        <p:spPr>
          <a:xfrm>
            <a:off x="7818119" y="1783080"/>
            <a:ext cx="3246120" cy="233172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2011680"/>
            <a:ext cx="2697479" cy="365760"/>
          </a:xfrm>
          <a:prstGeom prst="rect">
            <a:avLst/>
          </a:prstGeom>
          <a:noFill/>
        </p:spPr>
        <p:txBody>
          <a:bodyPr wrap="square" anchor="t" lIns="0" rIns="0" tIns="0" bIns="0">
            <a:spAutoFit/>
          </a:bodyPr>
          <a:lstStyle/>
          <a:p>
            <a:pPr algn="l">
              <a:lnSpc>
                <a:spcPct val="100000"/>
              </a:lnSpc>
              <a:spcBef>
                <a:spcPts val="0"/>
              </a:spcBef>
              <a:spcAft>
                <a:spcPts val="400"/>
              </a:spcAft>
            </a:pPr>
            <a:r>
              <a:rPr sz="1650" b="1" i="0">
                <a:solidFill>
                  <a:srgbClr val="64748D"/>
                </a:solidFill>
                <a:latin typeface="Calibri"/>
              </a:rPr>
              <a:t>Drift-aware fair</a:t>
            </a:r>
          </a:p>
        </p:txBody>
      </p:sp>
      <p:sp>
        <p:nvSpPr>
          <p:cNvPr id="15" name="TextBox 14"/>
          <p:cNvSpPr txBox="1"/>
          <p:nvPr/>
        </p:nvSpPr>
        <p:spPr>
          <a:xfrm>
            <a:off x="8092440" y="2404872"/>
            <a:ext cx="2697479"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0" i="1">
                <a:solidFill>
                  <a:srgbClr val="64748D"/>
                </a:solidFill>
                <a:latin typeface="Calibri"/>
              </a:rPr>
              <a:t>e.g. prior attempts</a:t>
            </a:r>
          </a:p>
        </p:txBody>
      </p:sp>
      <p:sp>
        <p:nvSpPr>
          <p:cNvPr id="16" name="TextBox 15"/>
          <p:cNvSpPr txBox="1"/>
          <p:nvPr/>
        </p:nvSpPr>
        <p:spPr>
          <a:xfrm>
            <a:off x="8092440" y="2807208"/>
            <a:ext cx="2743200" cy="1188720"/>
          </a:xfrm>
          <a:prstGeom prst="rect">
            <a:avLst/>
          </a:prstGeom>
          <a:noFill/>
        </p:spPr>
        <p:txBody>
          <a:bodyPr wrap="square" anchor="t" lIns="0" rIns="0" tIns="0" bIns="0">
            <a:spAutoFit/>
          </a:bodyPr>
          <a:lstStyle/>
          <a:p>
            <a:pPr algn="l">
              <a:lnSpc>
                <a:spcPct val="102000"/>
              </a:lnSpc>
              <a:spcBef>
                <a:spcPts val="0"/>
              </a:spcBef>
              <a:spcAft>
                <a:spcPts val="500"/>
              </a:spcAft>
            </a:pPr>
            <a:r>
              <a:rPr sz="1250" b="0" i="0">
                <a:solidFill>
                  <a:srgbClr val="384657"/>
                </a:solidFill>
                <a:latin typeface="Calibri"/>
              </a:rPr>
              <a:t>Treat shift as fixed perturbation</a:t>
            </a:r>
          </a:p>
          <a:p>
            <a:pPr algn="l">
              <a:lnSpc>
                <a:spcPct val="102000"/>
              </a:lnSpc>
              <a:spcBef>
                <a:spcPts val="0"/>
              </a:spcBef>
              <a:spcAft>
                <a:spcPts val="500"/>
              </a:spcAft>
            </a:pPr>
            <a:r>
              <a:rPr sz="1250" b="0" i="0">
                <a:solidFill>
                  <a:srgbClr val="384657"/>
                </a:solidFill>
                <a:latin typeface="Calibri"/>
              </a:rPr>
              <a:t>Worst-case, not streaming</a:t>
            </a:r>
          </a:p>
          <a:p>
            <a:pPr algn="l">
              <a:lnSpc>
                <a:spcPct val="102000"/>
              </a:lnSpc>
              <a:spcBef>
                <a:spcPts val="0"/>
              </a:spcBef>
              <a:spcAft>
                <a:spcPts val="500"/>
              </a:spcAft>
            </a:pPr>
            <a:r>
              <a:rPr sz="1250" b="0" i="0">
                <a:solidFill>
                  <a:srgbClr val="384657"/>
                </a:solidFill>
                <a:latin typeface="Calibri"/>
              </a:rPr>
              <a:t>No online detector/controller</a:t>
            </a:r>
          </a:p>
        </p:txBody>
      </p:sp>
      <p:sp>
        <p:nvSpPr>
          <p:cNvPr id="17" name="Rounded Rectangle 16"/>
          <p:cNvSpPr/>
          <p:nvPr/>
        </p:nvSpPr>
        <p:spPr>
          <a:xfrm>
            <a:off x="777240" y="4526280"/>
            <a:ext cx="10607040" cy="1417320"/>
          </a:xfrm>
          <a:prstGeom prst="roundRect">
            <a:avLst>
              <a:gd name="adj" fmla="val 6000"/>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4718304"/>
            <a:ext cx="2194560" cy="1005840"/>
          </a:xfrm>
          <a:prstGeom prst="rect">
            <a:avLst/>
          </a:prstGeom>
          <a:noFill/>
        </p:spPr>
        <p:txBody>
          <a:bodyPr wrap="square" anchor="ctr" lIns="0" rIns="0" tIns="0" bIns="0">
            <a:spAutoFit/>
          </a:bodyPr>
          <a:lstStyle/>
          <a:p>
            <a:pPr algn="l">
              <a:lnSpc>
                <a:spcPct val="100000"/>
              </a:lnSpc>
              <a:spcBef>
                <a:spcPts val="0"/>
              </a:spcBef>
              <a:spcAft>
                <a:spcPts val="400"/>
              </a:spcAft>
            </a:pPr>
            <a:r>
              <a:rPr sz="3000" b="1" i="0">
                <a:solidFill>
                  <a:srgbClr val="FFFFFF"/>
                </a:solidFill>
                <a:latin typeface="Calibri"/>
              </a:rPr>
              <a:t>FADO</a:t>
            </a:r>
          </a:p>
        </p:txBody>
      </p:sp>
      <p:sp>
        <p:nvSpPr>
          <p:cNvPr id="19" name="TextBox 18"/>
          <p:cNvSpPr txBox="1"/>
          <p:nvPr/>
        </p:nvSpPr>
        <p:spPr>
          <a:xfrm>
            <a:off x="3200400" y="4700016"/>
            <a:ext cx="7863840" cy="1097280"/>
          </a:xfrm>
          <a:prstGeom prst="rect">
            <a:avLst/>
          </a:prstGeom>
          <a:noFill/>
        </p:spPr>
        <p:txBody>
          <a:bodyPr wrap="square" anchor="ctr" lIns="0" rIns="0" tIns="0" bIns="0">
            <a:spAutoFit/>
          </a:bodyPr>
          <a:lstStyle/>
          <a:p>
            <a:pPr algn="l">
              <a:lnSpc>
                <a:spcPct val="100000"/>
              </a:lnSpc>
              <a:spcBef>
                <a:spcPts val="0"/>
              </a:spcBef>
              <a:spcAft>
                <a:spcPts val="600"/>
              </a:spcAft>
            </a:pPr>
            <a:r>
              <a:rPr sz="1500" b="0" i="0">
                <a:solidFill>
                  <a:srgbClr val="E6ECF7"/>
                </a:solidFill>
                <a:latin typeface="Calibri"/>
              </a:rPr>
              <a:t>Retain Aranyani's node-level fairness regulariser as the base learner, </a:t>
            </a:r>
            <a:r>
              <a:rPr sz="1500" b="1" i="0">
                <a:solidFill>
                  <a:srgbClr val="FFFFFF"/>
                </a:solidFill>
                <a:latin typeface="Calibri"/>
              </a:rPr>
              <a:t>then wrap it</a:t>
            </a:r>
            <a:r>
              <a:rPr sz="1500" b="0" i="0">
                <a:solidFill>
                  <a:srgbClr val="E6ECF7"/>
                </a:solidFill>
                <a:latin typeface="Calibri"/>
              </a:rPr>
              <a:t> in a dual-ADWIN detector + reaction controller.</a:t>
            </a:r>
          </a:p>
          <a:p>
            <a:pPr algn="l">
              <a:lnSpc>
                <a:spcPct val="100000"/>
              </a:lnSpc>
              <a:spcBef>
                <a:spcPts val="0"/>
              </a:spcBef>
              <a:spcAft>
                <a:spcPts val="600"/>
              </a:spcAft>
            </a:pPr>
            <a:r>
              <a:rPr sz="1300" b="0" i="1">
                <a:solidFill>
                  <a:srgbClr val="9FB4D8"/>
                </a:solidFill>
                <a:latin typeface="Calibri"/>
              </a:rPr>
              <a:t>Aranyani is inherited, not contributed — the novelty is the drift-detection-and-response layer.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57823"/>
                </a:solidFill>
                <a:latin typeface="Calibri"/>
              </a:rPr>
              <a:t>DESIGN DECISION 1  ·  WHY A SOFT-ROUTED OBLIQUE FOREST</a:t>
            </a:r>
          </a:p>
        </p:txBody>
      </p:sp>
      <p:sp>
        <p:nvSpPr>
          <p:cNvPr id="4" name="TextBox 3"/>
          <p:cNvSpPr txBox="1"/>
          <p:nvPr/>
        </p:nvSpPr>
        <p:spPr>
          <a:xfrm>
            <a:off x="777240" y="777240"/>
            <a:ext cx="1060704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A38"/>
                </a:solidFill>
                <a:latin typeface="Calibri"/>
              </a:rPr>
              <a:t>Oblique + soft routing = differentiable, node-level fairness</a:t>
            </a:r>
          </a:p>
        </p:txBody>
      </p:sp>
      <p:sp>
        <p:nvSpPr>
          <p:cNvPr id="5" name="TextBox 4"/>
          <p:cNvSpPr txBox="1"/>
          <p:nvPr/>
        </p:nvSpPr>
        <p:spPr>
          <a:xfrm>
            <a:off x="777240" y="1737360"/>
            <a:ext cx="6400800" cy="2286000"/>
          </a:xfrm>
          <a:prstGeom prst="rect">
            <a:avLst/>
          </a:prstGeom>
          <a:noFill/>
        </p:spPr>
        <p:txBody>
          <a:bodyPr wrap="square" anchor="t" lIns="0" rIns="0" tIns="0" bIns="0">
            <a:spAutoFit/>
          </a:bodyPr>
          <a:lstStyle/>
          <a:p>
            <a:pPr algn="l">
              <a:lnSpc>
                <a:spcPct val="110000"/>
              </a:lnSpc>
              <a:spcBef>
                <a:spcPts val="0"/>
              </a:spcBef>
              <a:spcAft>
                <a:spcPts val="1000"/>
              </a:spcAft>
            </a:pPr>
            <a:r>
              <a:rPr sz="1500" b="0" i="0">
                <a:solidFill>
                  <a:srgbClr val="384657"/>
                </a:solidFill>
                <a:latin typeface="Calibri"/>
              </a:rPr>
              <a:t>Oblique nodes split on a </a:t>
            </a:r>
            <a:r>
              <a:rPr sz="1500" b="1" i="0">
                <a:solidFill>
                  <a:srgbClr val="285AE6"/>
                </a:solidFill>
                <a:latin typeface="Calibri"/>
              </a:rPr>
              <a:t>linear combination of features</a:t>
            </a:r>
            <a:r>
              <a:rPr sz="1500" b="0" i="0">
                <a:solidFill>
                  <a:srgbClr val="384657"/>
                </a:solidFill>
                <a:latin typeface="Calibri"/>
              </a:rPr>
              <a:t> (an angled hyperplane), far more expressive per node than axis-aligned splits.</a:t>
            </a:r>
          </a:p>
          <a:p>
            <a:pPr algn="l">
              <a:lnSpc>
                <a:spcPct val="110000"/>
              </a:lnSpc>
              <a:spcBef>
                <a:spcPts val="0"/>
              </a:spcBef>
              <a:spcAft>
                <a:spcPts val="1000"/>
              </a:spcAft>
            </a:pPr>
            <a:r>
              <a:rPr sz="1500" b="0" i="0">
                <a:solidFill>
                  <a:srgbClr val="384657"/>
                </a:solidFill>
                <a:latin typeface="Calibri"/>
              </a:rPr>
              <a:t>A </a:t>
            </a:r>
            <a:r>
              <a:rPr sz="1500" b="1" i="0">
                <a:solidFill>
                  <a:srgbClr val="285AE6"/>
                </a:solidFill>
                <a:latin typeface="Calibri"/>
              </a:rPr>
              <a:t>temperature-scaled sigmoid</a:t>
            </a:r>
            <a:r>
              <a:rPr sz="1500" b="0" i="0">
                <a:solidFill>
                  <a:srgbClr val="384657"/>
                </a:solidFill>
                <a:latin typeface="Calibri"/>
              </a:rPr>
              <a:t> makes routing soft and differentiable — the whole forest trains by gradient descent, online.</a:t>
            </a:r>
          </a:p>
          <a:p>
            <a:pPr algn="l">
              <a:lnSpc>
                <a:spcPct val="110000"/>
              </a:lnSpc>
              <a:spcBef>
                <a:spcPts val="0"/>
              </a:spcBef>
              <a:spcAft>
                <a:spcPts val="1000"/>
              </a:spcAft>
            </a:pPr>
            <a:r>
              <a:rPr sz="1500" b="0" i="0">
                <a:solidFill>
                  <a:srgbClr val="384657"/>
                </a:solidFill>
                <a:latin typeface="Calibri"/>
              </a:rPr>
              <a:t>Each node then behaves like a per-step prediction, so </a:t>
            </a:r>
            <a:r>
              <a:rPr sz="1500" b="1" i="0">
                <a:solidFill>
                  <a:srgbClr val="F57823"/>
                </a:solidFill>
                <a:latin typeface="Calibri"/>
              </a:rPr>
              <a:t>group-fairness can be imposed at every node</a:t>
            </a:r>
            <a:r>
              <a:rPr sz="1500" b="0" i="0">
                <a:solidFill>
                  <a:srgbClr val="384657"/>
                </a:solidFill>
                <a:latin typeface="Calibri"/>
              </a:rPr>
              <a:t>, not just the output.</a:t>
            </a:r>
          </a:p>
        </p:txBody>
      </p:sp>
      <p:sp>
        <p:nvSpPr>
          <p:cNvPr id="6" name="Rounded Rectangle 5"/>
          <p:cNvSpPr/>
          <p:nvPr/>
        </p:nvSpPr>
        <p:spPr>
          <a:xfrm>
            <a:off x="777240" y="4114800"/>
            <a:ext cx="6400800" cy="868680"/>
          </a:xfrm>
          <a:prstGeom prst="roundRect">
            <a:avLst>
              <a:gd name="adj" fmla="val 9000"/>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114800"/>
            <a:ext cx="6035040" cy="868680"/>
          </a:xfrm>
          <a:prstGeom prst="rect">
            <a:avLst/>
          </a:prstGeom>
          <a:noFill/>
        </p:spPr>
        <p:txBody>
          <a:bodyPr wrap="square" anchor="ctr" lIns="0" rIns="0" tIns="0" bIns="0">
            <a:spAutoFit/>
          </a:bodyPr>
          <a:lstStyle/>
          <a:p>
            <a:pPr algn="ctr">
              <a:lnSpc>
                <a:spcPct val="100000"/>
              </a:lnSpc>
              <a:spcBef>
                <a:spcPts val="0"/>
              </a:spcBef>
              <a:spcAft>
                <a:spcPts val="400"/>
              </a:spcAft>
            </a:pPr>
            <a:r>
              <a:rPr sz="2100" b="0" i="0">
                <a:solidFill>
                  <a:srgbClr val="FFFFFF"/>
                </a:solidFill>
                <a:latin typeface="Cambria"/>
              </a:rPr>
              <a:t>n</a:t>
            </a:r>
            <a:r>
              <a:rPr sz="1400" b="0" i="0">
                <a:solidFill>
                  <a:srgbClr val="FFFFFF"/>
                </a:solidFill>
                <a:latin typeface="Cambria"/>
              </a:rPr>
              <a:t>j</a:t>
            </a:r>
            <a:r>
              <a:rPr sz="2100" b="0" i="0">
                <a:solidFill>
                  <a:srgbClr val="FFFFFF"/>
                </a:solidFill>
                <a:latin typeface="Cambria"/>
              </a:rPr>
              <a:t>(x) = σ( (w</a:t>
            </a:r>
            <a:r>
              <a:rPr sz="1400" b="0" i="0">
                <a:solidFill>
                  <a:srgbClr val="FFFFFF"/>
                </a:solidFill>
                <a:latin typeface="Cambria"/>
              </a:rPr>
              <a:t>j</a:t>
            </a:r>
            <a:r>
              <a:rPr sz="2100" b="0" i="0">
                <a:solidFill>
                  <a:srgbClr val="FFFFFF"/>
                </a:solidFill>
                <a:latin typeface="Cambria"/>
              </a:rPr>
              <a:t>ᵀx + b</a:t>
            </a:r>
            <a:r>
              <a:rPr sz="1400" b="0" i="0">
                <a:solidFill>
                  <a:srgbClr val="FFFFFF"/>
                </a:solidFill>
                <a:latin typeface="Cambria"/>
              </a:rPr>
              <a:t>j</a:t>
            </a:r>
            <a:r>
              <a:rPr sz="2100" b="0" i="0">
                <a:solidFill>
                  <a:srgbClr val="FFFFFF"/>
                </a:solidFill>
                <a:latin typeface="Cambria"/>
              </a:rPr>
              <a:t>) / τ )  ∈ (0, 1)</a:t>
            </a:r>
          </a:p>
        </p:txBody>
      </p:sp>
      <p:sp>
        <p:nvSpPr>
          <p:cNvPr id="8" name="Rounded Rectangle 7"/>
          <p:cNvSpPr/>
          <p:nvPr/>
        </p:nvSpPr>
        <p:spPr>
          <a:xfrm>
            <a:off x="777240" y="5120640"/>
            <a:ext cx="6400800" cy="822960"/>
          </a:xfrm>
          <a:prstGeom prst="roundRect">
            <a:avLst>
              <a:gd name="adj" fmla="val 9000"/>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120640"/>
            <a:ext cx="6035040" cy="822960"/>
          </a:xfrm>
          <a:prstGeom prst="rect">
            <a:avLst/>
          </a:prstGeom>
          <a:noFill/>
        </p:spPr>
        <p:txBody>
          <a:bodyPr wrap="square" anchor="ctr" lIns="0" rIns="0" tIns="0" bIns="0">
            <a:spAutoFit/>
          </a:bodyPr>
          <a:lstStyle/>
          <a:p>
            <a:pPr algn="ctr">
              <a:lnSpc>
                <a:spcPct val="100000"/>
              </a:lnSpc>
              <a:spcBef>
                <a:spcPts val="0"/>
              </a:spcBef>
              <a:spcAft>
                <a:spcPts val="400"/>
              </a:spcAft>
            </a:pPr>
            <a:r>
              <a:rPr sz="2000" b="0" i="0">
                <a:solidFill>
                  <a:srgbClr val="FFFFFF"/>
                </a:solidFill>
                <a:latin typeface="Cambria"/>
              </a:rPr>
              <a:t>f(x) = (1/K) Σ</a:t>
            </a:r>
            <a:r>
              <a:rPr sz="1300" b="0" i="0">
                <a:solidFill>
                  <a:srgbClr val="FFFFFF"/>
                </a:solidFill>
                <a:latin typeface="Cambria"/>
              </a:rPr>
              <a:t>k</a:t>
            </a:r>
            <a:r>
              <a:rPr sz="2000" b="0" i="0">
                <a:solidFill>
                  <a:srgbClr val="FFFFFF"/>
                </a:solidFill>
                <a:latin typeface="Cambria"/>
              </a:rPr>
              <a:t> softmax( f</a:t>
            </a:r>
            <a:r>
              <a:rPr sz="1300" b="0" i="0">
                <a:solidFill>
                  <a:srgbClr val="FFFFFF"/>
                </a:solidFill>
                <a:latin typeface="Cambria"/>
              </a:rPr>
              <a:t>k</a:t>
            </a:r>
            <a:r>
              <a:rPr sz="2000" b="0" i="0">
                <a:solidFill>
                  <a:srgbClr val="FFFFFF"/>
                </a:solidFill>
                <a:latin typeface="Cambria"/>
              </a:rPr>
              <a:t>(x) )</a:t>
            </a:r>
          </a:p>
        </p:txBody>
      </p:sp>
      <p:sp>
        <p:nvSpPr>
          <p:cNvPr id="10" name="Rounded Rectangle 9"/>
          <p:cNvSpPr/>
          <p:nvPr/>
        </p:nvSpPr>
        <p:spPr>
          <a:xfrm>
            <a:off x="7452360" y="1737360"/>
            <a:ext cx="3977639" cy="420624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0" y="1965960"/>
            <a:ext cx="3383280"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E2A38"/>
                </a:solidFill>
                <a:latin typeface="Calibri"/>
              </a:rPr>
              <a:t>What this buys us</a:t>
            </a:r>
          </a:p>
        </p:txBody>
      </p:sp>
      <p:sp>
        <p:nvSpPr>
          <p:cNvPr id="12" name="TextBox 11"/>
          <p:cNvSpPr txBox="1"/>
          <p:nvPr/>
        </p:nvSpPr>
        <p:spPr>
          <a:xfrm>
            <a:off x="7772400" y="2423160"/>
            <a:ext cx="3383280" cy="3291840"/>
          </a:xfrm>
          <a:prstGeom prst="rect">
            <a:avLst/>
          </a:prstGeom>
          <a:noFill/>
        </p:spPr>
        <p:txBody>
          <a:bodyPr wrap="square" anchor="t" lIns="0" rIns="0" tIns="0" bIns="0">
            <a:spAutoFit/>
          </a:bodyPr>
          <a:lstStyle/>
          <a:p>
            <a:pPr algn="l">
              <a:lnSpc>
                <a:spcPct val="106000"/>
              </a:lnSpc>
              <a:spcBef>
                <a:spcPts val="0"/>
              </a:spcBef>
              <a:spcAft>
                <a:spcPts val="900"/>
              </a:spcAft>
            </a:pPr>
            <a:r>
              <a:rPr sz="1300" b="1" i="0">
                <a:solidFill>
                  <a:srgbClr val="1C7293"/>
                </a:solidFill>
                <a:latin typeface="Calibri"/>
              </a:rPr>
              <a:t>Parameter isolation.</a:t>
            </a:r>
            <a:r>
              <a:rPr sz="1300" b="0" i="0">
                <a:solidFill>
                  <a:srgbClr val="384657"/>
                </a:solidFill>
                <a:latin typeface="Calibri"/>
              </a:rPr>
              <a:t> Each fairness term depends only on local node weights — per-step gradient stays cheap.</a:t>
            </a:r>
          </a:p>
          <a:p>
            <a:pPr algn="l">
              <a:lnSpc>
                <a:spcPct val="106000"/>
              </a:lnSpc>
              <a:spcBef>
                <a:spcPts val="0"/>
              </a:spcBef>
              <a:spcAft>
                <a:spcPts val="900"/>
              </a:spcAft>
            </a:pPr>
            <a:r>
              <a:rPr sz="1300" b="1" i="0">
                <a:solidFill>
                  <a:srgbClr val="1C7293"/>
                </a:solidFill>
                <a:latin typeface="Calibri"/>
              </a:rPr>
              <a:t>Streaming memory.</a:t>
            </a:r>
            <a:r>
              <a:rPr sz="1300" b="0" i="0">
                <a:solidFill>
                  <a:srgbClr val="384657"/>
                </a:solidFill>
                <a:latin typeface="Calibri"/>
              </a:rPr>
              <a:t> Running per-group statistics, O(W) not O(t): no stored past samples.</a:t>
            </a:r>
          </a:p>
          <a:p>
            <a:pPr algn="l">
              <a:lnSpc>
                <a:spcPct val="106000"/>
              </a:lnSpc>
              <a:spcBef>
                <a:spcPts val="0"/>
              </a:spcBef>
              <a:spcAft>
                <a:spcPts val="900"/>
              </a:spcAft>
            </a:pPr>
            <a:r>
              <a:rPr sz="1300" b="1" i="0">
                <a:solidFill>
                  <a:srgbClr val="F57823"/>
                </a:solidFill>
                <a:latin typeface="Calibri"/>
              </a:rPr>
              <a:t>Temperature τ = the control lever.</a:t>
            </a:r>
            <a:r>
              <a:rPr sz="1300" b="0" i="0">
                <a:solidFill>
                  <a:srgbClr val="384657"/>
                </a:solidFill>
                <a:latin typeface="Calibri"/>
              </a:rPr>
              <a:t> τ = 1 routes smoothly for stable learning; τ → 0 sharpens routing for decisive recovery after drift.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57823"/>
                </a:solidFill>
                <a:latin typeface="Calibri"/>
              </a:rPr>
              <a:t>DESIGN DECISION 2  ·  THE NODE-LEVEL FAIRNESS REGULARISER</a:t>
            </a:r>
          </a:p>
        </p:txBody>
      </p:sp>
      <p:sp>
        <p:nvSpPr>
          <p:cNvPr id="4" name="TextBox 3"/>
          <p:cNvSpPr txBox="1"/>
          <p:nvPr/>
        </p:nvSpPr>
        <p:spPr>
          <a:xfrm>
            <a:off x="777240" y="777240"/>
            <a:ext cx="1060704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A38"/>
                </a:solidFill>
                <a:latin typeface="Calibri"/>
              </a:rPr>
              <a:t>A per-node DP gap, smoothed by a Huber surrogate</a:t>
            </a:r>
          </a:p>
        </p:txBody>
      </p:sp>
      <p:sp>
        <p:nvSpPr>
          <p:cNvPr id="5" name="TextBox 4"/>
          <p:cNvSpPr txBox="1"/>
          <p:nvPr/>
        </p:nvSpPr>
        <p:spPr>
          <a:xfrm>
            <a:off x="777240" y="1737360"/>
            <a:ext cx="6400800" cy="1737360"/>
          </a:xfrm>
          <a:prstGeom prst="rect">
            <a:avLst/>
          </a:prstGeom>
          <a:noFill/>
        </p:spPr>
        <p:txBody>
          <a:bodyPr wrap="square" anchor="t" lIns="0" rIns="0" tIns="0" bIns="0">
            <a:spAutoFit/>
          </a:bodyPr>
          <a:lstStyle/>
          <a:p>
            <a:pPr algn="l">
              <a:lnSpc>
                <a:spcPct val="110000"/>
              </a:lnSpc>
              <a:spcBef>
                <a:spcPts val="0"/>
              </a:spcBef>
              <a:spcAft>
                <a:spcPts val="900"/>
              </a:spcAft>
            </a:pPr>
            <a:r>
              <a:rPr sz="1500" b="0" i="0">
                <a:solidFill>
                  <a:srgbClr val="384657"/>
                </a:solidFill>
                <a:latin typeface="Calibri"/>
              </a:rPr>
              <a:t>At each routing node, compare the </a:t>
            </a:r>
            <a:r>
              <a:rPr sz="1500" b="1" i="0">
                <a:solidFill>
                  <a:srgbClr val="384657"/>
                </a:solidFill>
                <a:latin typeface="Calibri"/>
              </a:rPr>
              <a:t>group-conditional mean routing </a:t>
            </a:r>
            <a:r>
              <a:rPr sz="1500" b="1" i="0">
                <a:solidFill>
                  <a:srgbClr val="384657"/>
                </a:solidFill>
                <a:latin typeface="Cambria"/>
              </a:rPr>
              <a:t>n̄</a:t>
            </a:r>
            <a:r>
              <a:rPr sz="1500" b="1" i="0">
                <a:solidFill>
                  <a:srgbClr val="384657"/>
                </a:solidFill>
                <a:latin typeface="Calibri"/>
              </a:rPr>
              <a:t>ₐ</a:t>
            </a:r>
            <a:r>
              <a:rPr sz="1500" b="0" i="0">
                <a:solidFill>
                  <a:srgbClr val="384657"/>
                </a:solidFill>
                <a:latin typeface="Calibri"/>
              </a:rPr>
              <a:t> to the cross-group mean </a:t>
            </a:r>
            <a:r>
              <a:rPr sz="1500" b="1" i="0">
                <a:solidFill>
                  <a:srgbClr val="384657"/>
                </a:solidFill>
                <a:latin typeface="Cambria"/>
              </a:rPr>
              <a:t>n̄</a:t>
            </a:r>
            <a:r>
              <a:rPr sz="1500" b="0" i="0">
                <a:solidFill>
                  <a:srgbClr val="384657"/>
                </a:solidFill>
                <a:latin typeface="Calibri"/>
              </a:rPr>
              <a:t> — the per-node analogue of the demographic-parity gap.</a:t>
            </a:r>
          </a:p>
          <a:p>
            <a:pPr algn="l">
              <a:lnSpc>
                <a:spcPct val="110000"/>
              </a:lnSpc>
              <a:spcBef>
                <a:spcPts val="0"/>
              </a:spcBef>
              <a:spcAft>
                <a:spcPts val="900"/>
              </a:spcAft>
            </a:pPr>
            <a:r>
              <a:rPr sz="1500" b="0" i="0">
                <a:solidFill>
                  <a:srgbClr val="384657"/>
                </a:solidFill>
                <a:latin typeface="Calibri"/>
              </a:rPr>
              <a:t>Sum the penalty over </a:t>
            </a:r>
            <a:r>
              <a:rPr sz="1500" b="1" i="0">
                <a:solidFill>
                  <a:srgbClr val="285AE6"/>
                </a:solidFill>
                <a:latin typeface="Calibri"/>
              </a:rPr>
              <a:t>every node in every tree</a:t>
            </a:r>
            <a:r>
              <a:rPr sz="1500" b="0" i="0">
                <a:solidFill>
                  <a:srgbClr val="384657"/>
                </a:solidFill>
                <a:latin typeface="Calibri"/>
              </a:rPr>
              <a:t>; λ trades off accuracy against fairness.</a:t>
            </a:r>
          </a:p>
        </p:txBody>
      </p:sp>
      <p:sp>
        <p:nvSpPr>
          <p:cNvPr id="6" name="Rounded Rectangle 5"/>
          <p:cNvSpPr/>
          <p:nvPr/>
        </p:nvSpPr>
        <p:spPr>
          <a:xfrm>
            <a:off x="777240" y="3429000"/>
            <a:ext cx="6400800" cy="777240"/>
          </a:xfrm>
          <a:prstGeom prst="roundRect">
            <a:avLst>
              <a:gd name="adj" fmla="val 9000"/>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429000"/>
            <a:ext cx="6035040" cy="777240"/>
          </a:xfrm>
          <a:prstGeom prst="rect">
            <a:avLst/>
          </a:prstGeom>
          <a:noFill/>
        </p:spPr>
        <p:txBody>
          <a:bodyPr wrap="square" anchor="ctr" lIns="0" rIns="0" tIns="0" bIns="0">
            <a:spAutoFit/>
          </a:bodyPr>
          <a:lstStyle/>
          <a:p>
            <a:pPr algn="ctr">
              <a:lnSpc>
                <a:spcPct val="100000"/>
              </a:lnSpc>
              <a:spcBef>
                <a:spcPts val="0"/>
              </a:spcBef>
              <a:spcAft>
                <a:spcPts val="400"/>
              </a:spcAft>
            </a:pPr>
            <a:r>
              <a:rPr sz="2000" b="0" i="0">
                <a:solidFill>
                  <a:srgbClr val="FFFFFF"/>
                </a:solidFill>
                <a:latin typeface="Cambria"/>
              </a:rPr>
              <a:t>F</a:t>
            </a:r>
            <a:r>
              <a:rPr sz="1300" b="0" i="0">
                <a:solidFill>
                  <a:srgbClr val="FFFFFF"/>
                </a:solidFill>
                <a:latin typeface="Cambria"/>
              </a:rPr>
              <a:t>a</a:t>
            </a:r>
            <a:r>
              <a:rPr sz="2000" b="0" i="0">
                <a:solidFill>
                  <a:srgbClr val="FFFFFF"/>
                </a:solidFill>
                <a:latin typeface="Cambria"/>
              </a:rPr>
              <a:t> = n̄ − n̄</a:t>
            </a:r>
            <a:r>
              <a:rPr sz="1300" b="0" i="0">
                <a:solidFill>
                  <a:srgbClr val="FFFFFF"/>
                </a:solidFill>
                <a:latin typeface="Cambria"/>
              </a:rPr>
              <a:t>a</a:t>
            </a:r>
            <a:r>
              <a:rPr sz="1500" b="0" i="0">
                <a:solidFill>
                  <a:srgbClr val="CADCFC"/>
                </a:solidFill>
                <a:latin typeface="Cambria"/>
              </a:rPr>
              <a:t>      (signed per-node DP deviation)</a:t>
            </a:r>
          </a:p>
        </p:txBody>
      </p:sp>
      <p:sp>
        <p:nvSpPr>
          <p:cNvPr id="8" name="Rounded Rectangle 7"/>
          <p:cNvSpPr/>
          <p:nvPr/>
        </p:nvSpPr>
        <p:spPr>
          <a:xfrm>
            <a:off x="777240" y="4343400"/>
            <a:ext cx="6400800" cy="777240"/>
          </a:xfrm>
          <a:prstGeom prst="roundRect">
            <a:avLst>
              <a:gd name="adj" fmla="val 9000"/>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343400"/>
            <a:ext cx="6035040" cy="777240"/>
          </a:xfrm>
          <a:prstGeom prst="rect">
            <a:avLst/>
          </a:prstGeom>
          <a:noFill/>
        </p:spPr>
        <p:txBody>
          <a:bodyPr wrap="square" anchor="ctr" lIns="0" rIns="0" tIns="0" bIns="0">
            <a:spAutoFit/>
          </a:bodyPr>
          <a:lstStyle/>
          <a:p>
            <a:pPr algn="ctr">
              <a:lnSpc>
                <a:spcPct val="100000"/>
              </a:lnSpc>
              <a:spcBef>
                <a:spcPts val="0"/>
              </a:spcBef>
              <a:spcAft>
                <a:spcPts val="400"/>
              </a:spcAft>
            </a:pPr>
            <a:r>
              <a:rPr sz="1900" b="0" i="0">
                <a:solidFill>
                  <a:srgbClr val="FFFFFF"/>
                </a:solidFill>
                <a:latin typeface="Cambria"/>
              </a:rPr>
              <a:t>ℒ = ℒ</a:t>
            </a:r>
            <a:r>
              <a:rPr sz="1200" b="0" i="0">
                <a:solidFill>
                  <a:srgbClr val="FFFFFF"/>
                </a:solidFill>
                <a:latin typeface="Cambria"/>
              </a:rPr>
              <a:t>CE</a:t>
            </a:r>
            <a:r>
              <a:rPr sz="1900" b="0" i="0">
                <a:solidFill>
                  <a:srgbClr val="FFFFFF"/>
                </a:solidFill>
                <a:latin typeface="Cambria"/>
              </a:rPr>
              <a:t> + λ Σ</a:t>
            </a:r>
            <a:r>
              <a:rPr sz="1200" b="0" i="0">
                <a:solidFill>
                  <a:srgbClr val="FFFFFF"/>
                </a:solidFill>
                <a:latin typeface="Cambria"/>
              </a:rPr>
              <a:t>nodes</a:t>
            </a:r>
            <a:r>
              <a:rPr sz="1900" b="0" i="0">
                <a:solidFill>
                  <a:srgbClr val="FFFFFF"/>
                </a:solidFill>
                <a:latin typeface="Cambria"/>
              </a:rPr>
              <a:t> (1/K) Σ</a:t>
            </a:r>
            <a:r>
              <a:rPr sz="1200" b="0" i="0">
                <a:solidFill>
                  <a:srgbClr val="FFFFFF"/>
                </a:solidFill>
                <a:latin typeface="Cambria"/>
              </a:rPr>
              <a:t>a</a:t>
            </a:r>
            <a:r>
              <a:rPr sz="1900" b="0" i="0">
                <a:solidFill>
                  <a:srgbClr val="FFFFFF"/>
                </a:solidFill>
                <a:latin typeface="Cambria"/>
              </a:rPr>
              <a:t> φ</a:t>
            </a:r>
            <a:r>
              <a:rPr sz="1200" b="0" i="0">
                <a:solidFill>
                  <a:srgbClr val="FFFFFF"/>
                </a:solidFill>
                <a:latin typeface="Cambria"/>
              </a:rPr>
              <a:t>δ</a:t>
            </a:r>
            <a:r>
              <a:rPr sz="1900" b="0" i="0">
                <a:solidFill>
                  <a:srgbClr val="FFFFFF"/>
                </a:solidFill>
                <a:latin typeface="Cambria"/>
              </a:rPr>
              <a:t>( F</a:t>
            </a:r>
            <a:r>
              <a:rPr sz="1200" b="0" i="0">
                <a:solidFill>
                  <a:srgbClr val="FFFFFF"/>
                </a:solidFill>
                <a:latin typeface="Cambria"/>
              </a:rPr>
              <a:t>a</a:t>
            </a:r>
            <a:r>
              <a:rPr sz="1900" b="0" i="0">
                <a:solidFill>
                  <a:srgbClr val="FFFFFF"/>
                </a:solidFill>
                <a:latin typeface="Cambria"/>
              </a:rPr>
              <a:t> )</a:t>
            </a:r>
          </a:p>
        </p:txBody>
      </p:sp>
      <p:sp>
        <p:nvSpPr>
          <p:cNvPr id="10" name="Rounded Rectangle 9"/>
          <p:cNvSpPr/>
          <p:nvPr/>
        </p:nvSpPr>
        <p:spPr>
          <a:xfrm>
            <a:off x="777240" y="5257800"/>
            <a:ext cx="6400800" cy="731520"/>
          </a:xfrm>
          <a:prstGeom prst="roundRect">
            <a:avLst>
              <a:gd name="adj" fmla="val 9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257800"/>
            <a:ext cx="6035040" cy="731520"/>
          </a:xfrm>
          <a:prstGeom prst="rect">
            <a:avLst/>
          </a:prstGeom>
          <a:noFill/>
        </p:spPr>
        <p:txBody>
          <a:bodyPr wrap="square" anchor="ctr" lIns="0" rIns="0" tIns="0" bIns="0">
            <a:spAutoFit/>
          </a:bodyPr>
          <a:lstStyle/>
          <a:p>
            <a:pPr algn="ctr">
              <a:lnSpc>
                <a:spcPct val="100000"/>
              </a:lnSpc>
              <a:spcBef>
                <a:spcPts val="0"/>
              </a:spcBef>
              <a:spcAft>
                <a:spcPts val="400"/>
              </a:spcAft>
            </a:pPr>
            <a:r>
              <a:rPr sz="1800" b="0" i="0">
                <a:solidFill>
                  <a:srgbClr val="FFFFFF"/>
                </a:solidFill>
                <a:latin typeface="Cambria"/>
              </a:rPr>
              <a:t>φ</a:t>
            </a:r>
            <a:r>
              <a:rPr sz="1200" b="0" i="0">
                <a:solidFill>
                  <a:srgbClr val="FFFFFF"/>
                </a:solidFill>
                <a:latin typeface="Cambria"/>
              </a:rPr>
              <a:t>δ</a:t>
            </a:r>
            <a:r>
              <a:rPr sz="1800" b="0" i="0">
                <a:solidFill>
                  <a:srgbClr val="FFFFFF"/>
                </a:solidFill>
                <a:latin typeface="Cambria"/>
              </a:rPr>
              <a:t>′(z) = z  if |z| &lt; δ ,   sign(z)  if |z| ≥ δ</a:t>
            </a:r>
          </a:p>
        </p:txBody>
      </p:sp>
      <p:sp>
        <p:nvSpPr>
          <p:cNvPr id="12" name="Rounded Rectangle 11"/>
          <p:cNvSpPr/>
          <p:nvPr/>
        </p:nvSpPr>
        <p:spPr>
          <a:xfrm>
            <a:off x="7452360" y="1737360"/>
            <a:ext cx="3977639" cy="425196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1965960"/>
            <a:ext cx="3383280"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E2A38"/>
                </a:solidFill>
                <a:latin typeface="Calibri"/>
              </a:rPr>
              <a:t>Why these choices</a:t>
            </a:r>
          </a:p>
        </p:txBody>
      </p:sp>
      <p:sp>
        <p:nvSpPr>
          <p:cNvPr id="14" name="TextBox 13"/>
          <p:cNvSpPr txBox="1"/>
          <p:nvPr/>
        </p:nvSpPr>
        <p:spPr>
          <a:xfrm>
            <a:off x="7772400" y="2423160"/>
            <a:ext cx="3429000" cy="3383280"/>
          </a:xfrm>
          <a:prstGeom prst="rect">
            <a:avLst/>
          </a:prstGeom>
          <a:noFill/>
        </p:spPr>
        <p:txBody>
          <a:bodyPr wrap="square" anchor="t" lIns="0" rIns="0" tIns="0" bIns="0">
            <a:spAutoFit/>
          </a:bodyPr>
          <a:lstStyle/>
          <a:p>
            <a:pPr algn="l">
              <a:lnSpc>
                <a:spcPct val="105000"/>
              </a:lnSpc>
              <a:spcBef>
                <a:spcPts val="0"/>
              </a:spcBef>
              <a:spcAft>
                <a:spcPts val="800"/>
              </a:spcAft>
            </a:pPr>
            <a:r>
              <a:rPr sz="1250" b="1" i="0">
                <a:solidFill>
                  <a:srgbClr val="1C7293"/>
                </a:solidFill>
                <a:latin typeface="Calibri"/>
              </a:rPr>
              <a:t>Quadratic near 0.</a:t>
            </a:r>
            <a:r>
              <a:rPr sz="1250" b="0" i="0">
                <a:solidFill>
                  <a:srgbClr val="384657"/>
                </a:solidFill>
                <a:latin typeface="Calibri"/>
              </a:rPr>
              <a:t> Small deviations get a smooth, well-conditioned gradient.</a:t>
            </a:r>
          </a:p>
          <a:p>
            <a:pPr algn="l">
              <a:lnSpc>
                <a:spcPct val="105000"/>
              </a:lnSpc>
              <a:spcBef>
                <a:spcPts val="0"/>
              </a:spcBef>
              <a:spcAft>
                <a:spcPts val="800"/>
              </a:spcAft>
            </a:pPr>
            <a:r>
              <a:rPr sz="1250" b="1" i="0">
                <a:solidFill>
                  <a:srgbClr val="1C7293"/>
                </a:solidFill>
                <a:latin typeface="Calibri"/>
              </a:rPr>
              <a:t>Linear in the tails.</a:t>
            </a:r>
            <a:r>
              <a:rPr sz="1250" b="0" i="0">
                <a:solidFill>
                  <a:srgbClr val="384657"/>
                </a:solidFill>
                <a:latin typeface="Calibri"/>
              </a:rPr>
              <a:t> Large, outlier-driven deviations can't dominate the update.</a:t>
            </a:r>
          </a:p>
          <a:p>
            <a:pPr algn="l">
              <a:lnSpc>
                <a:spcPct val="105000"/>
              </a:lnSpc>
              <a:spcBef>
                <a:spcPts val="0"/>
              </a:spcBef>
              <a:spcAft>
                <a:spcPts val="800"/>
              </a:spcAft>
            </a:pPr>
            <a:r>
              <a:rPr sz="1250" b="1" i="0">
                <a:solidFill>
                  <a:srgbClr val="F57823"/>
                </a:solidFill>
                <a:latin typeface="Calibri"/>
              </a:rPr>
              <a:t>Unit-slope tail</a:t>
            </a:r>
            <a:r>
              <a:rPr sz="1250" b="0" i="0">
                <a:solidFill>
                  <a:srgbClr val="384657"/>
                </a:solidFill>
                <a:latin typeface="Calibri"/>
              </a:rPr>
              <a:t> (vs δ in textbook Huber) → a more aggressive correction once |F| &gt; δ.</a:t>
            </a:r>
          </a:p>
          <a:p>
            <a:pPr algn="l">
              <a:lnSpc>
                <a:spcPct val="105000"/>
              </a:lnSpc>
              <a:spcBef>
                <a:spcPts val="0"/>
              </a:spcBef>
              <a:spcAft>
                <a:spcPts val="800"/>
              </a:spcAft>
            </a:pPr>
            <a:r>
              <a:rPr sz="1250" b="1" i="0">
                <a:solidFill>
                  <a:srgbClr val="F57823"/>
                </a:solidFill>
                <a:latin typeface="Calibri"/>
              </a:rPr>
              <a:t>Mean-from-average DP</a:t>
            </a:r>
            <a:r>
              <a:rPr sz="1250" b="0" i="0">
                <a:solidFill>
                  <a:srgbClr val="384657"/>
                </a:solidFill>
                <a:latin typeface="Calibri"/>
              </a:rPr>
              <a:t> (not pairwise-max) is chosen to match this node regulariser exactly.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57823"/>
                </a:solidFill>
                <a:latin typeface="Calibri"/>
              </a:rPr>
              <a:t>DESIGN DECISION 3  ·  FROM MARGINAL TO INTERSECTIONAL FAIRNESS</a:t>
            </a:r>
          </a:p>
        </p:txBody>
      </p:sp>
      <p:sp>
        <p:nvSpPr>
          <p:cNvPr id="4" name="TextBox 3"/>
          <p:cNvSpPr txBox="1"/>
          <p:nvPr/>
        </p:nvSpPr>
        <p:spPr>
          <a:xfrm>
            <a:off x="777240" y="777240"/>
            <a:ext cx="1060704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A38"/>
                </a:solidFill>
                <a:latin typeface="Calibri"/>
              </a:rPr>
              <a:t>Marginal parity is provably gameable</a:t>
            </a:r>
          </a:p>
        </p:txBody>
      </p:sp>
      <p:sp>
        <p:nvSpPr>
          <p:cNvPr id="5" name="TextBox 4"/>
          <p:cNvSpPr txBox="1"/>
          <p:nvPr/>
        </p:nvSpPr>
        <p:spPr>
          <a:xfrm>
            <a:off x="777240" y="1783080"/>
            <a:ext cx="6400800" cy="2194560"/>
          </a:xfrm>
          <a:prstGeom prst="rect">
            <a:avLst/>
          </a:prstGeom>
          <a:noFill/>
        </p:spPr>
        <p:txBody>
          <a:bodyPr wrap="square" anchor="t" lIns="0" rIns="0" tIns="0" bIns="0">
            <a:spAutoFit/>
          </a:bodyPr>
          <a:lstStyle/>
          <a:p>
            <a:pPr algn="l">
              <a:lnSpc>
                <a:spcPct val="112000"/>
              </a:lnSpc>
              <a:spcBef>
                <a:spcPts val="0"/>
              </a:spcBef>
              <a:spcAft>
                <a:spcPts val="1200"/>
              </a:spcAft>
            </a:pPr>
            <a:r>
              <a:rPr sz="1550" b="0" i="0">
                <a:solidFill>
                  <a:srgbClr val="384657"/>
                </a:solidFill>
                <a:latin typeface="Calibri"/>
              </a:rPr>
              <a:t>Enforcing parity on </a:t>
            </a:r>
            <a:r>
              <a:rPr sz="1550" b="1" i="0">
                <a:solidFill>
                  <a:srgbClr val="384657"/>
                </a:solidFill>
                <a:latin typeface="Calibri"/>
              </a:rPr>
              <a:t>each attribute separately</a:t>
            </a:r>
            <a:r>
              <a:rPr sz="1550" b="0" i="0">
                <a:solidFill>
                  <a:srgbClr val="384657"/>
                </a:solidFill>
                <a:latin typeface="Calibri"/>
              </a:rPr>
              <a:t> is defeatable (Kearns et al., 2018): a model can be perfectly fair on sex </a:t>
            </a:r>
            <a:r>
              <a:rPr sz="1550" b="0" i="1">
                <a:solidFill>
                  <a:srgbClr val="384657"/>
                </a:solidFill>
                <a:latin typeface="Calibri"/>
              </a:rPr>
              <a:t>and</a:t>
            </a:r>
            <a:r>
              <a:rPr sz="1550" b="0" i="0">
                <a:solidFill>
                  <a:srgbClr val="384657"/>
                </a:solidFill>
                <a:latin typeface="Calibri"/>
              </a:rPr>
              <a:t> on race, yet badly unfair on a </a:t>
            </a:r>
            <a:r>
              <a:rPr sz="1550" b="1" i="0">
                <a:solidFill>
                  <a:srgbClr val="F57823"/>
                </a:solidFill>
                <a:latin typeface="Calibri"/>
              </a:rPr>
              <a:t>joint</a:t>
            </a:r>
            <a:r>
              <a:rPr sz="1550" b="0" i="0">
                <a:solidFill>
                  <a:srgbClr val="384657"/>
                </a:solidFill>
                <a:latin typeface="Calibri"/>
              </a:rPr>
              <a:t> subgroup — fairness gerrymandering.</a:t>
            </a:r>
          </a:p>
          <a:p>
            <a:pPr algn="l">
              <a:lnSpc>
                <a:spcPct val="112000"/>
              </a:lnSpc>
              <a:spcBef>
                <a:spcPts val="0"/>
              </a:spcBef>
              <a:spcAft>
                <a:spcPts val="1200"/>
              </a:spcAft>
            </a:pPr>
            <a:r>
              <a:rPr sz="1550" b="0" i="0">
                <a:solidFill>
                  <a:srgbClr val="384657"/>
                </a:solidFill>
                <a:latin typeface="Calibri"/>
              </a:rPr>
              <a:t>FADO optimises parity over the </a:t>
            </a:r>
            <a:r>
              <a:rPr sz="1550" b="1" i="0">
                <a:solidFill>
                  <a:srgbClr val="285AE6"/>
                </a:solidFill>
                <a:latin typeface="Calibri"/>
              </a:rPr>
              <a:t>Cartesian-product subgroups</a:t>
            </a:r>
            <a:r>
              <a:rPr sz="1550" b="0" i="0">
                <a:solidFill>
                  <a:srgbClr val="384657"/>
                </a:solidFill>
                <a:latin typeface="Calibri"/>
              </a:rPr>
              <a:t> of two attributes. The regulariser already supports arbitrary K ≥ 2, so </a:t>
            </a:r>
            <a:r>
              <a:rPr sz="1550" b="1" i="0">
                <a:solidFill>
                  <a:srgbClr val="384657"/>
                </a:solidFill>
                <a:latin typeface="Calibri"/>
              </a:rPr>
              <a:t>the learner needed no change</a:t>
            </a:r>
            <a:r>
              <a:rPr sz="1550" b="0" i="0">
                <a:solidFill>
                  <a:srgbClr val="384657"/>
                </a:solidFill>
                <a:latin typeface="Calibri"/>
              </a:rPr>
              <a:t>.</a:t>
            </a:r>
          </a:p>
        </p:txBody>
      </p:sp>
      <p:sp>
        <p:nvSpPr>
          <p:cNvPr id="6" name="Rounded Rectangle 5"/>
          <p:cNvSpPr/>
          <p:nvPr/>
        </p:nvSpPr>
        <p:spPr>
          <a:xfrm>
            <a:off x="777240" y="4206240"/>
            <a:ext cx="6400800" cy="914400"/>
          </a:xfrm>
          <a:prstGeom prst="roundRect">
            <a:avLst>
              <a:gd name="adj" fmla="val 9000"/>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206240"/>
            <a:ext cx="6035040" cy="914400"/>
          </a:xfrm>
          <a:prstGeom prst="rect">
            <a:avLst/>
          </a:prstGeom>
          <a:noFill/>
        </p:spPr>
        <p:txBody>
          <a:bodyPr wrap="square" anchor="ctr" lIns="0" rIns="0" tIns="0" bIns="0">
            <a:spAutoFit/>
          </a:bodyPr>
          <a:lstStyle/>
          <a:p>
            <a:pPr algn="ctr">
              <a:lnSpc>
                <a:spcPct val="100000"/>
              </a:lnSpc>
              <a:spcBef>
                <a:spcPts val="0"/>
              </a:spcBef>
              <a:spcAft>
                <a:spcPts val="400"/>
              </a:spcAft>
            </a:pPr>
            <a:r>
              <a:rPr sz="2600" b="0" i="0">
                <a:solidFill>
                  <a:srgbClr val="FFFFFF"/>
                </a:solidFill>
                <a:latin typeface="Cambria"/>
              </a:rPr>
              <a:t>a = 2·a</a:t>
            </a:r>
            <a:r>
              <a:rPr sz="1600" b="0" i="0">
                <a:solidFill>
                  <a:srgbClr val="FFFFFF"/>
                </a:solidFill>
                <a:latin typeface="Cambria"/>
              </a:rPr>
              <a:t>1</a:t>
            </a:r>
            <a:r>
              <a:rPr sz="2600" b="0" i="0">
                <a:solidFill>
                  <a:srgbClr val="FFFFFF"/>
                </a:solidFill>
                <a:latin typeface="Cambria"/>
              </a:rPr>
              <a:t> + a</a:t>
            </a:r>
            <a:r>
              <a:rPr sz="1600" b="0" i="0">
                <a:solidFill>
                  <a:srgbClr val="FFFFFF"/>
                </a:solidFill>
                <a:latin typeface="Cambria"/>
              </a:rPr>
              <a:t>2</a:t>
            </a:r>
            <a:r>
              <a:rPr sz="2600" b="0" i="0">
                <a:solidFill>
                  <a:srgbClr val="FFFFFF"/>
                </a:solidFill>
                <a:latin typeface="Cambria"/>
              </a:rPr>
              <a:t>   ∈  { 0, 1, 2, 3 }</a:t>
            </a:r>
          </a:p>
        </p:txBody>
      </p:sp>
      <p:sp>
        <p:nvSpPr>
          <p:cNvPr id="8" name="TextBox 7"/>
          <p:cNvSpPr txBox="1"/>
          <p:nvPr/>
        </p:nvSpPr>
        <p:spPr>
          <a:xfrm>
            <a:off x="777240" y="5303520"/>
            <a:ext cx="6400800" cy="457200"/>
          </a:xfrm>
          <a:prstGeom prst="rect">
            <a:avLst/>
          </a:prstGeom>
          <a:noFill/>
        </p:spPr>
        <p:txBody>
          <a:bodyPr wrap="square" anchor="t" lIns="0" rIns="0" tIns="0" bIns="0">
            <a:spAutoFit/>
          </a:bodyPr>
          <a:lstStyle/>
          <a:p>
            <a:pPr algn="l">
              <a:lnSpc>
                <a:spcPct val="100000"/>
              </a:lnSpc>
              <a:spcBef>
                <a:spcPts val="0"/>
              </a:spcBef>
              <a:spcAft>
                <a:spcPts val="400"/>
              </a:spcAft>
            </a:pPr>
            <a:r>
              <a:rPr sz="1350" b="0" i="1">
                <a:solidFill>
                  <a:srgbClr val="64748D"/>
                </a:solidFill>
                <a:latin typeface="Calibri"/>
              </a:rPr>
              <a:t>One 4-valued composite group index replaces two binary axes.</a:t>
            </a:r>
          </a:p>
        </p:txBody>
      </p:sp>
      <p:sp>
        <p:nvSpPr>
          <p:cNvPr id="9" name="TextBox 8"/>
          <p:cNvSpPr txBox="1"/>
          <p:nvPr/>
        </p:nvSpPr>
        <p:spPr>
          <a:xfrm>
            <a:off x="7772400" y="1691640"/>
            <a:ext cx="3566160" cy="365760"/>
          </a:xfrm>
          <a:prstGeom prst="rect">
            <a:avLst/>
          </a:prstGeom>
          <a:noFill/>
        </p:spPr>
        <p:txBody>
          <a:bodyPr wrap="square" anchor="t" lIns="0" rIns="0" tIns="0" bIns="0">
            <a:spAutoFit/>
          </a:bodyPr>
          <a:lstStyle/>
          <a:p>
            <a:pPr algn="ctr">
              <a:lnSpc>
                <a:spcPct val="100000"/>
              </a:lnSpc>
              <a:spcBef>
                <a:spcPts val="0"/>
              </a:spcBef>
              <a:spcAft>
                <a:spcPts val="400"/>
              </a:spcAft>
            </a:pPr>
            <a:r>
              <a:rPr sz="1400" b="1" i="0">
                <a:solidFill>
                  <a:srgbClr val="1E2A38"/>
                </a:solidFill>
                <a:latin typeface="Calibri"/>
              </a:rPr>
              <a:t>Four joint cells</a:t>
            </a:r>
          </a:p>
        </p:txBody>
      </p:sp>
      <p:sp>
        <p:nvSpPr>
          <p:cNvPr id="10" name="Rounded Rectangle 9"/>
          <p:cNvSpPr/>
          <p:nvPr/>
        </p:nvSpPr>
        <p:spPr>
          <a:xfrm>
            <a:off x="7772400" y="2148840"/>
            <a:ext cx="1691640" cy="169164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380476" y="2441448"/>
            <a:ext cx="475488" cy="475488"/>
          </a:xfrm>
          <a:prstGeom prst="ellipse">
            <a:avLst/>
          </a:prstGeom>
          <a:solidFill>
            <a:srgbClr val="285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3026664"/>
            <a:ext cx="1691640" cy="457200"/>
          </a:xfrm>
          <a:prstGeom prst="rect">
            <a:avLst/>
          </a:prstGeom>
          <a:noFill/>
        </p:spPr>
        <p:txBody>
          <a:bodyPr wrap="square" anchor="t" lIns="0" rIns="0" tIns="0" bIns="0">
            <a:spAutoFit/>
          </a:bodyPr>
          <a:lstStyle/>
          <a:p>
            <a:pPr algn="ctr">
              <a:lnSpc>
                <a:spcPct val="100000"/>
              </a:lnSpc>
              <a:spcBef>
                <a:spcPts val="0"/>
              </a:spcBef>
              <a:spcAft>
                <a:spcPts val="400"/>
              </a:spcAft>
            </a:pPr>
            <a:r>
              <a:rPr sz="1350" b="1" i="0">
                <a:solidFill>
                  <a:srgbClr val="1E2A38"/>
                </a:solidFill>
                <a:latin typeface="Calibri"/>
              </a:rPr>
              <a:t>a₁=0, a₂=0</a:t>
            </a:r>
          </a:p>
        </p:txBody>
      </p:sp>
      <p:sp>
        <p:nvSpPr>
          <p:cNvPr id="13" name="Rounded Rectangle 12"/>
          <p:cNvSpPr/>
          <p:nvPr/>
        </p:nvSpPr>
        <p:spPr>
          <a:xfrm>
            <a:off x="9646920" y="2148840"/>
            <a:ext cx="1691640" cy="169164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54996" y="2441448"/>
            <a:ext cx="475488" cy="47548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3026664"/>
            <a:ext cx="1691640" cy="457200"/>
          </a:xfrm>
          <a:prstGeom prst="rect">
            <a:avLst/>
          </a:prstGeom>
          <a:noFill/>
        </p:spPr>
        <p:txBody>
          <a:bodyPr wrap="square" anchor="t" lIns="0" rIns="0" tIns="0" bIns="0">
            <a:spAutoFit/>
          </a:bodyPr>
          <a:lstStyle/>
          <a:p>
            <a:pPr algn="ctr">
              <a:lnSpc>
                <a:spcPct val="100000"/>
              </a:lnSpc>
              <a:spcBef>
                <a:spcPts val="0"/>
              </a:spcBef>
              <a:spcAft>
                <a:spcPts val="400"/>
              </a:spcAft>
            </a:pPr>
            <a:r>
              <a:rPr sz="1350" b="1" i="0">
                <a:solidFill>
                  <a:srgbClr val="1E2A38"/>
                </a:solidFill>
                <a:latin typeface="Calibri"/>
              </a:rPr>
              <a:t>a₁=0, a₂=1</a:t>
            </a:r>
          </a:p>
        </p:txBody>
      </p:sp>
      <p:sp>
        <p:nvSpPr>
          <p:cNvPr id="16" name="Rounded Rectangle 15"/>
          <p:cNvSpPr/>
          <p:nvPr/>
        </p:nvSpPr>
        <p:spPr>
          <a:xfrm>
            <a:off x="7772400" y="4023360"/>
            <a:ext cx="1691640" cy="169164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80476" y="4315968"/>
            <a:ext cx="475488" cy="475488"/>
          </a:xfrm>
          <a:prstGeom prst="ellipse">
            <a:avLst/>
          </a:prstGeom>
          <a:solidFill>
            <a:srgbClr val="F57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4901184"/>
            <a:ext cx="1691640" cy="457200"/>
          </a:xfrm>
          <a:prstGeom prst="rect">
            <a:avLst/>
          </a:prstGeom>
          <a:noFill/>
        </p:spPr>
        <p:txBody>
          <a:bodyPr wrap="square" anchor="t" lIns="0" rIns="0" tIns="0" bIns="0">
            <a:spAutoFit/>
          </a:bodyPr>
          <a:lstStyle/>
          <a:p>
            <a:pPr algn="ctr">
              <a:lnSpc>
                <a:spcPct val="100000"/>
              </a:lnSpc>
              <a:spcBef>
                <a:spcPts val="0"/>
              </a:spcBef>
              <a:spcAft>
                <a:spcPts val="400"/>
              </a:spcAft>
            </a:pPr>
            <a:r>
              <a:rPr sz="1350" b="1" i="0">
                <a:solidFill>
                  <a:srgbClr val="1E2A38"/>
                </a:solidFill>
                <a:latin typeface="Calibri"/>
              </a:rPr>
              <a:t>a₁=1, a₂=0</a:t>
            </a:r>
          </a:p>
        </p:txBody>
      </p:sp>
      <p:sp>
        <p:nvSpPr>
          <p:cNvPr id="19" name="Rounded Rectangle 18"/>
          <p:cNvSpPr/>
          <p:nvPr/>
        </p:nvSpPr>
        <p:spPr>
          <a:xfrm>
            <a:off x="9646920" y="4023360"/>
            <a:ext cx="1691640" cy="169164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254996" y="4315968"/>
            <a:ext cx="475488" cy="475488"/>
          </a:xfrm>
          <a:prstGeom prst="ellipse">
            <a:avLst/>
          </a:prstGeom>
          <a:solidFill>
            <a:srgbClr val="379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46920" y="4901184"/>
            <a:ext cx="1691640" cy="457200"/>
          </a:xfrm>
          <a:prstGeom prst="rect">
            <a:avLst/>
          </a:prstGeom>
          <a:noFill/>
        </p:spPr>
        <p:txBody>
          <a:bodyPr wrap="square" anchor="t" lIns="0" rIns="0" tIns="0" bIns="0">
            <a:spAutoFit/>
          </a:bodyPr>
          <a:lstStyle/>
          <a:p>
            <a:pPr algn="ctr">
              <a:lnSpc>
                <a:spcPct val="100000"/>
              </a:lnSpc>
              <a:spcBef>
                <a:spcPts val="0"/>
              </a:spcBef>
              <a:spcAft>
                <a:spcPts val="400"/>
              </a:spcAft>
            </a:pPr>
            <a:r>
              <a:rPr sz="1350" b="1" i="0">
                <a:solidFill>
                  <a:srgbClr val="1E2A38"/>
                </a:solidFill>
                <a:latin typeface="Calibri"/>
              </a:rPr>
              <a:t>a₁=1, a₂=1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57823"/>
                </a:solidFill>
                <a:latin typeface="Calibri"/>
              </a:rPr>
              <a:t>DESIGN DECISION 4  ·  THE DUAL-ADWIN REACTION CONTROLLER</a:t>
            </a:r>
          </a:p>
        </p:txBody>
      </p:sp>
      <p:sp>
        <p:nvSpPr>
          <p:cNvPr id="4" name="TextBox 3"/>
          <p:cNvSpPr txBox="1"/>
          <p:nvPr/>
        </p:nvSpPr>
        <p:spPr>
          <a:xfrm>
            <a:off x="777240" y="777240"/>
            <a:ext cx="1060704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A38"/>
                </a:solidFill>
                <a:latin typeface="Calibri"/>
              </a:rPr>
              <a:t>Two detectors, three phases, one temperature</a:t>
            </a:r>
          </a:p>
        </p:txBody>
      </p:sp>
      <p:sp>
        <p:nvSpPr>
          <p:cNvPr id="5" name="Rounded Rectangle 4"/>
          <p:cNvSpPr/>
          <p:nvPr/>
        </p:nvSpPr>
        <p:spPr>
          <a:xfrm>
            <a:off x="777240" y="1737360"/>
            <a:ext cx="3246120" cy="233172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51560" y="1965960"/>
            <a:ext cx="2697479" cy="457200"/>
          </a:xfrm>
          <a:prstGeom prst="roundRect">
            <a:avLst>
              <a:gd name="adj" fmla="val 25000"/>
            </a:avLst>
          </a:prstGeom>
          <a:solidFill>
            <a:srgbClr val="E7A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965960"/>
            <a:ext cx="2697479"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Calibri"/>
              </a:rPr>
              <a:t>WARN</a:t>
            </a:r>
          </a:p>
        </p:txBody>
      </p:sp>
      <p:sp>
        <p:nvSpPr>
          <p:cNvPr id="8" name="TextBox 7"/>
          <p:cNvSpPr txBox="1"/>
          <p:nvPr/>
        </p:nvSpPr>
        <p:spPr>
          <a:xfrm>
            <a:off x="1069848" y="2496312"/>
            <a:ext cx="2697479"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7A91B"/>
                </a:solidFill>
                <a:latin typeface="Calibri"/>
              </a:rPr>
              <a:t>pre-warm</a:t>
            </a:r>
          </a:p>
        </p:txBody>
      </p:sp>
      <p:sp>
        <p:nvSpPr>
          <p:cNvPr id="9" name="TextBox 8"/>
          <p:cNvSpPr txBox="1"/>
          <p:nvPr/>
        </p:nvSpPr>
        <p:spPr>
          <a:xfrm>
            <a:off x="1069848" y="2834639"/>
            <a:ext cx="2743200" cy="1143000"/>
          </a:xfrm>
          <a:prstGeom prst="rect">
            <a:avLst/>
          </a:prstGeom>
          <a:noFill/>
        </p:spPr>
        <p:txBody>
          <a:bodyPr wrap="square" anchor="t" lIns="0" rIns="0" tIns="0" bIns="0">
            <a:spAutoFit/>
          </a:bodyPr>
          <a:lstStyle/>
          <a:p>
            <a:pPr algn="l">
              <a:lnSpc>
                <a:spcPct val="100000"/>
              </a:lnSpc>
              <a:spcBef>
                <a:spcPts val="0"/>
              </a:spcBef>
              <a:spcAft>
                <a:spcPts val="400"/>
              </a:spcAft>
            </a:pPr>
            <a:r>
              <a:rPr sz="1150" b="0" i="0">
                <a:solidFill>
                  <a:srgbClr val="384657"/>
                </a:solidFill>
                <a:latin typeface="Calibri"/>
              </a:rPr>
              <a:t>Sensitive detector D_w trips</a:t>
            </a:r>
          </a:p>
          <a:p>
            <a:pPr algn="l">
              <a:lnSpc>
                <a:spcPct val="100000"/>
              </a:lnSpc>
              <a:spcBef>
                <a:spcPts val="0"/>
              </a:spcBef>
              <a:spcAft>
                <a:spcPts val="400"/>
              </a:spcAft>
            </a:pPr>
            <a:r>
              <a:rPr sz="1150" b="0" i="0">
                <a:solidFill>
                  <a:srgbClr val="384657"/>
                </a:solidFill>
                <a:latin typeface="Calibri"/>
              </a:rPr>
              <a:t>LR × β_w  (β_w = 5)</a:t>
            </a:r>
          </a:p>
          <a:p>
            <a:pPr algn="l">
              <a:lnSpc>
                <a:spcPct val="100000"/>
              </a:lnSpc>
              <a:spcBef>
                <a:spcPts val="0"/>
              </a:spcBef>
              <a:spcAft>
                <a:spcPts val="400"/>
              </a:spcAft>
            </a:pPr>
            <a:r>
              <a:rPr sz="1150" b="0" i="0">
                <a:solidFill>
                  <a:srgbClr val="384657"/>
                </a:solidFill>
                <a:latin typeface="Calibri"/>
              </a:rPr>
              <a:t>Arm — don't commit</a:t>
            </a:r>
          </a:p>
        </p:txBody>
      </p:sp>
      <p:sp>
        <p:nvSpPr>
          <p:cNvPr id="10" name="Chevron 9"/>
          <p:cNvSpPr/>
          <p:nvPr/>
        </p:nvSpPr>
        <p:spPr>
          <a:xfrm>
            <a:off x="4032503" y="2697480"/>
            <a:ext cx="274320" cy="411480"/>
          </a:xfrm>
          <a:prstGeom prst="chevron">
            <a:avLst/>
          </a:prstGeom>
          <a:solidFill>
            <a:srgbClr val="6474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97679" y="1737360"/>
            <a:ext cx="3246120" cy="233172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71999" y="1965960"/>
            <a:ext cx="2697479" cy="457200"/>
          </a:xfrm>
          <a:prstGeom prst="roundRect">
            <a:avLst>
              <a:gd name="adj" fmla="val 25000"/>
            </a:avLst>
          </a:prstGeom>
          <a:solidFill>
            <a:srgbClr val="F57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1999" y="1965960"/>
            <a:ext cx="2697479"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Calibri"/>
              </a:rPr>
              <a:t>CONFIRM</a:t>
            </a:r>
          </a:p>
        </p:txBody>
      </p:sp>
      <p:sp>
        <p:nvSpPr>
          <p:cNvPr id="14" name="TextBox 13"/>
          <p:cNvSpPr txBox="1"/>
          <p:nvPr/>
        </p:nvSpPr>
        <p:spPr>
          <a:xfrm>
            <a:off x="4590288" y="2496312"/>
            <a:ext cx="2697479"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57823"/>
                </a:solidFill>
                <a:latin typeface="Calibri"/>
              </a:rPr>
              <a:t>spike + sharpen</a:t>
            </a:r>
          </a:p>
        </p:txBody>
      </p:sp>
      <p:sp>
        <p:nvSpPr>
          <p:cNvPr id="15" name="TextBox 14"/>
          <p:cNvSpPr txBox="1"/>
          <p:nvPr/>
        </p:nvSpPr>
        <p:spPr>
          <a:xfrm>
            <a:off x="4590288" y="2834639"/>
            <a:ext cx="2743200" cy="1143000"/>
          </a:xfrm>
          <a:prstGeom prst="rect">
            <a:avLst/>
          </a:prstGeom>
          <a:noFill/>
        </p:spPr>
        <p:txBody>
          <a:bodyPr wrap="square" anchor="t" lIns="0" rIns="0" tIns="0" bIns="0">
            <a:spAutoFit/>
          </a:bodyPr>
          <a:lstStyle/>
          <a:p>
            <a:pPr algn="l">
              <a:lnSpc>
                <a:spcPct val="100000"/>
              </a:lnSpc>
              <a:spcBef>
                <a:spcPts val="0"/>
              </a:spcBef>
              <a:spcAft>
                <a:spcPts val="400"/>
              </a:spcAft>
            </a:pPr>
            <a:r>
              <a:rPr sz="1150" b="0" i="0">
                <a:solidFill>
                  <a:srgbClr val="384657"/>
                </a:solidFill>
                <a:latin typeface="Calibri"/>
              </a:rPr>
              <a:t>Strict detector D_c confirms</a:t>
            </a:r>
          </a:p>
          <a:p>
            <a:pPr algn="l">
              <a:lnSpc>
                <a:spcPct val="100000"/>
              </a:lnSpc>
              <a:spcBef>
                <a:spcPts val="0"/>
              </a:spcBef>
              <a:spcAft>
                <a:spcPts val="400"/>
              </a:spcAft>
            </a:pPr>
            <a:r>
              <a:rPr sz="1150" b="0" i="0">
                <a:solidFill>
                  <a:srgbClr val="384657"/>
                </a:solidFill>
                <a:latin typeface="Calibri"/>
              </a:rPr>
              <a:t>LR × β_c  (β_c = 10)</a:t>
            </a:r>
          </a:p>
          <a:p>
            <a:pPr algn="l">
              <a:lnSpc>
                <a:spcPct val="100000"/>
              </a:lnSpc>
              <a:spcBef>
                <a:spcPts val="0"/>
              </a:spcBef>
              <a:spcAft>
                <a:spcPts val="400"/>
              </a:spcAft>
            </a:pPr>
            <a:r>
              <a:rPr sz="1150" b="0" i="0">
                <a:solidFill>
                  <a:srgbClr val="384657"/>
                </a:solidFill>
                <a:latin typeface="Calibri"/>
              </a:rPr>
              <a:t>τ → τ_drift = 0.1</a:t>
            </a:r>
          </a:p>
          <a:p>
            <a:pPr algn="l">
              <a:lnSpc>
                <a:spcPct val="100000"/>
              </a:lnSpc>
              <a:spcBef>
                <a:spcPts val="0"/>
              </a:spcBef>
              <a:spcAft>
                <a:spcPts val="400"/>
              </a:spcAft>
            </a:pPr>
            <a:r>
              <a:rPr sz="1150" b="0" i="0">
                <a:solidFill>
                  <a:srgbClr val="384657"/>
                </a:solidFill>
                <a:latin typeface="Calibri"/>
              </a:rPr>
              <a:t>reset detectors</a:t>
            </a:r>
          </a:p>
        </p:txBody>
      </p:sp>
      <p:sp>
        <p:nvSpPr>
          <p:cNvPr id="16" name="Chevron 15"/>
          <p:cNvSpPr/>
          <p:nvPr/>
        </p:nvSpPr>
        <p:spPr>
          <a:xfrm>
            <a:off x="7552944" y="2697480"/>
            <a:ext cx="274320" cy="411480"/>
          </a:xfrm>
          <a:prstGeom prst="chevron">
            <a:avLst/>
          </a:prstGeom>
          <a:solidFill>
            <a:srgbClr val="6474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818119" y="1737360"/>
            <a:ext cx="3246120" cy="233172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92440" y="1965960"/>
            <a:ext cx="2697479" cy="457200"/>
          </a:xfrm>
          <a:prstGeom prst="roundRect">
            <a:avLst>
              <a:gd name="adj" fmla="val 25000"/>
            </a:avLst>
          </a:prstGeom>
          <a:solidFill>
            <a:srgbClr val="379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92440" y="1965960"/>
            <a:ext cx="2697479"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Calibri"/>
              </a:rPr>
              <a:t>RECOVER</a:t>
            </a:r>
          </a:p>
        </p:txBody>
      </p:sp>
      <p:sp>
        <p:nvSpPr>
          <p:cNvPr id="20" name="TextBox 19"/>
          <p:cNvSpPr txBox="1"/>
          <p:nvPr/>
        </p:nvSpPr>
        <p:spPr>
          <a:xfrm>
            <a:off x="8110727" y="2496312"/>
            <a:ext cx="2697479"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379646"/>
                </a:solidFill>
                <a:latin typeface="Calibri"/>
              </a:rPr>
              <a:t>anneal back</a:t>
            </a:r>
          </a:p>
        </p:txBody>
      </p:sp>
      <p:sp>
        <p:nvSpPr>
          <p:cNvPr id="21" name="TextBox 20"/>
          <p:cNvSpPr txBox="1"/>
          <p:nvPr/>
        </p:nvSpPr>
        <p:spPr>
          <a:xfrm>
            <a:off x="8110727" y="2834639"/>
            <a:ext cx="2743200" cy="1143000"/>
          </a:xfrm>
          <a:prstGeom prst="rect">
            <a:avLst/>
          </a:prstGeom>
          <a:noFill/>
        </p:spPr>
        <p:txBody>
          <a:bodyPr wrap="square" anchor="t" lIns="0" rIns="0" tIns="0" bIns="0">
            <a:spAutoFit/>
          </a:bodyPr>
          <a:lstStyle/>
          <a:p>
            <a:pPr algn="l">
              <a:lnSpc>
                <a:spcPct val="100000"/>
              </a:lnSpc>
              <a:spcBef>
                <a:spcPts val="0"/>
              </a:spcBef>
              <a:spcAft>
                <a:spcPts val="400"/>
              </a:spcAft>
            </a:pPr>
            <a:r>
              <a:rPr sz="1150" b="0" i="0">
                <a:solidFill>
                  <a:srgbClr val="384657"/>
                </a:solidFill>
                <a:latin typeface="Calibri"/>
              </a:rPr>
              <a:t>η → η₀ over Δ steps</a:t>
            </a:r>
          </a:p>
          <a:p>
            <a:pPr algn="l">
              <a:lnSpc>
                <a:spcPct val="100000"/>
              </a:lnSpc>
              <a:spcBef>
                <a:spcPts val="0"/>
              </a:spcBef>
              <a:spcAft>
                <a:spcPts val="400"/>
              </a:spcAft>
            </a:pPr>
            <a:r>
              <a:rPr sz="1150" b="0" i="0">
                <a:solidFill>
                  <a:srgbClr val="384657"/>
                </a:solidFill>
                <a:latin typeface="Calibri"/>
              </a:rPr>
              <a:t>τ → 1</a:t>
            </a:r>
          </a:p>
          <a:p>
            <a:pPr algn="l">
              <a:lnSpc>
                <a:spcPct val="100000"/>
              </a:lnSpc>
              <a:spcBef>
                <a:spcPts val="0"/>
              </a:spcBef>
              <a:spcAft>
                <a:spcPts val="400"/>
              </a:spcAft>
            </a:pPr>
            <a:r>
              <a:rPr sz="1150" b="0" i="0">
                <a:solidFill>
                  <a:srgbClr val="384657"/>
                </a:solidFill>
                <a:latin typeface="Calibri"/>
              </a:rPr>
              <a:t>cooldown C = 200</a:t>
            </a:r>
          </a:p>
        </p:txBody>
      </p:sp>
      <p:sp>
        <p:nvSpPr>
          <p:cNvPr id="22" name="Rounded Rectangle 21"/>
          <p:cNvSpPr/>
          <p:nvPr/>
        </p:nvSpPr>
        <p:spPr>
          <a:xfrm>
            <a:off x="777240" y="4315968"/>
            <a:ext cx="5074920" cy="777240"/>
          </a:xfrm>
          <a:prstGeom prst="roundRect">
            <a:avLst>
              <a:gd name="adj" fmla="val 9000"/>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4315968"/>
            <a:ext cx="4709159" cy="777240"/>
          </a:xfrm>
          <a:prstGeom prst="rect">
            <a:avLst/>
          </a:prstGeom>
          <a:noFill/>
        </p:spPr>
        <p:txBody>
          <a:bodyPr wrap="square" anchor="ctr" lIns="0" rIns="0" tIns="0" bIns="0">
            <a:spAutoFit/>
          </a:bodyPr>
          <a:lstStyle/>
          <a:p>
            <a:pPr algn="ctr">
              <a:lnSpc>
                <a:spcPct val="100000"/>
              </a:lnSpc>
              <a:spcBef>
                <a:spcPts val="0"/>
              </a:spcBef>
              <a:spcAft>
                <a:spcPts val="400"/>
              </a:spcAft>
            </a:pPr>
            <a:r>
              <a:rPr sz="1800" b="0" i="0">
                <a:solidFill>
                  <a:srgbClr val="FFFFFF"/>
                </a:solidFill>
                <a:latin typeface="Cambria"/>
              </a:rPr>
              <a:t>ε</a:t>
            </a:r>
            <a:r>
              <a:rPr sz="1200" b="0" i="0">
                <a:solidFill>
                  <a:srgbClr val="FFFFFF"/>
                </a:solidFill>
                <a:latin typeface="Cambria"/>
              </a:rPr>
              <a:t>cut</a:t>
            </a:r>
            <a:r>
              <a:rPr sz="1800" b="0" i="0">
                <a:solidFill>
                  <a:srgbClr val="FFFFFF"/>
                </a:solidFill>
                <a:latin typeface="Cambria"/>
              </a:rPr>
              <a:t> = √( (1/2m) · ln(4/δ) )</a:t>
            </a:r>
          </a:p>
        </p:txBody>
      </p:sp>
      <p:sp>
        <p:nvSpPr>
          <p:cNvPr id="24" name="Rounded Rectangle 23"/>
          <p:cNvSpPr/>
          <p:nvPr/>
        </p:nvSpPr>
        <p:spPr>
          <a:xfrm>
            <a:off x="6080760" y="4315968"/>
            <a:ext cx="5349240" cy="77724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4315968"/>
            <a:ext cx="4846320" cy="777240"/>
          </a:xfrm>
          <a:prstGeom prst="rect">
            <a:avLst/>
          </a:prstGeom>
          <a:noFill/>
        </p:spPr>
        <p:txBody>
          <a:bodyPr wrap="square" anchor="ctr" lIns="0" rIns="0" tIns="0" bIns="0">
            <a:spAutoFit/>
          </a:bodyPr>
          <a:lstStyle/>
          <a:p>
            <a:pPr algn="l">
              <a:lnSpc>
                <a:spcPct val="100000"/>
              </a:lnSpc>
              <a:spcBef>
                <a:spcPts val="0"/>
              </a:spcBef>
              <a:spcAft>
                <a:spcPts val="400"/>
              </a:spcAft>
            </a:pPr>
            <a:r>
              <a:rPr sz="1250" b="1" i="0">
                <a:solidFill>
                  <a:srgbClr val="1C7293"/>
                </a:solidFill>
                <a:latin typeface="Calibri"/>
              </a:rPr>
              <a:t>δ calibrated to stream length</a:t>
            </a:r>
            <a:r>
              <a:rPr sz="1250" b="0" i="0">
                <a:solidFill>
                  <a:srgbClr val="384657"/>
                </a:solidFill>
                <a:latin typeface="Calibri"/>
              </a:rPr>
              <a:t> — longer streams tolerate a tighter bound (ε ∝ 1/√m).</a:t>
            </a:r>
          </a:p>
        </p:txBody>
      </p:sp>
      <p:sp>
        <p:nvSpPr>
          <p:cNvPr id="26" name="TextBox 25"/>
          <p:cNvSpPr txBox="1"/>
          <p:nvPr/>
        </p:nvSpPr>
        <p:spPr>
          <a:xfrm>
            <a:off x="777240" y="5257800"/>
            <a:ext cx="10607040" cy="640080"/>
          </a:xfrm>
          <a:prstGeom prst="rect">
            <a:avLst/>
          </a:prstGeom>
          <a:noFill/>
        </p:spPr>
        <p:txBody>
          <a:bodyPr wrap="square" anchor="t" lIns="0" rIns="0" tIns="0" bIns="0">
            <a:spAutoFit/>
          </a:bodyPr>
          <a:lstStyle/>
          <a:p>
            <a:pPr algn="l">
              <a:lnSpc>
                <a:spcPct val="105000"/>
              </a:lnSpc>
              <a:spcBef>
                <a:spcPts val="0"/>
              </a:spcBef>
              <a:spcAft>
                <a:spcPts val="400"/>
              </a:spcAft>
            </a:pPr>
            <a:r>
              <a:rPr sz="1350" b="1" i="0">
                <a:solidFill>
                  <a:srgbClr val="F57823"/>
                </a:solidFill>
                <a:latin typeface="Calibri"/>
              </a:rPr>
              <a:t>Label-noise guard (ν = 0.7):</a:t>
            </a:r>
            <a:r>
              <a:rPr sz="1350" b="0" i="0">
                <a:solidFill>
                  <a:srgbClr val="384657"/>
                </a:solidFill>
                <a:latin typeface="Calibri"/>
              </a:rPr>
              <a:t> a confident-but-wrong prediction is excluded from the change signal, so single mislabeled points can't spuriously fire the controller. Asymmetric β_w : β_c = 5 : 10 gives a measurable pre-warm before the full spike.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57823"/>
                </a:solidFill>
                <a:latin typeface="Calibri"/>
              </a:rPr>
              <a:t>END-TO-END SYSTEM</a:t>
            </a:r>
          </a:p>
        </p:txBody>
      </p:sp>
      <p:sp>
        <p:nvSpPr>
          <p:cNvPr id="4" name="TextBox 3"/>
          <p:cNvSpPr txBox="1"/>
          <p:nvPr/>
        </p:nvSpPr>
        <p:spPr>
          <a:xfrm>
            <a:off x="777240" y="777240"/>
            <a:ext cx="1060704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A38"/>
                </a:solidFill>
                <a:latin typeface="Calibri"/>
              </a:rPr>
              <a:t>The prequential loop</a:t>
            </a:r>
          </a:p>
        </p:txBody>
      </p:sp>
      <p:pic>
        <p:nvPicPr>
          <p:cNvPr id="5" name="Picture 4" descr="fado_figure-1.png"/>
          <p:cNvPicPr>
            <a:picLocks noChangeAspect="1"/>
          </p:cNvPicPr>
          <p:nvPr/>
        </p:nvPicPr>
        <p:blipFill>
          <a:blip r:embed="rId2"/>
          <a:stretch>
            <a:fillRect/>
          </a:stretch>
        </p:blipFill>
        <p:spPr>
          <a:xfrm>
            <a:off x="792327" y="1783080"/>
            <a:ext cx="10607040" cy="4740169"/>
          </a:xfrm>
          <a:prstGeom prst="rect">
            <a:avLst/>
          </a:prstGeom>
        </p:spPr>
      </p:pic>
      <p:sp>
        <p:nvSpPr>
          <p:cNvPr id="6" name="TextBox 5"/>
          <p:cNvSpPr txBox="1"/>
          <p:nvPr/>
        </p:nvSpPr>
        <p:spPr>
          <a:xfrm>
            <a:off x="777240" y="6660409"/>
            <a:ext cx="10607040" cy="457200"/>
          </a:xfrm>
          <a:prstGeom prst="rect">
            <a:avLst/>
          </a:prstGeom>
          <a:noFill/>
        </p:spPr>
        <p:txBody>
          <a:bodyPr wrap="square" anchor="t" lIns="0" rIns="0" tIns="0" bIns="0">
            <a:spAutoFit/>
          </a:bodyPr>
          <a:lstStyle/>
          <a:p>
            <a:pPr algn="ctr">
              <a:lnSpc>
                <a:spcPct val="100000"/>
              </a:lnSpc>
              <a:spcBef>
                <a:spcPts val="0"/>
              </a:spcBef>
              <a:spcAft>
                <a:spcPts val="400"/>
              </a:spcAft>
            </a:pPr>
            <a:r>
              <a:rPr sz="1300" b="1" i="0">
                <a:solidFill>
                  <a:srgbClr val="285AE6"/>
                </a:solidFill>
                <a:latin typeface="Calibri"/>
              </a:rPr>
              <a:t>Blue = data flow through the fair forest.   </a:t>
            </a:r>
            <a:r>
              <a:rPr sz="1300" b="1" i="0">
                <a:solidFill>
                  <a:srgbClr val="F57823"/>
                </a:solidFill>
                <a:latin typeface="Calibri"/>
              </a:rPr>
              <a:t>Orange = drift signals &amp; control flow: detector → reaction controller → retuned gradient step.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57823"/>
                </a:solidFill>
                <a:latin typeface="Calibri"/>
              </a:rPr>
              <a:t>EXPERIMENTAL DESIGN</a:t>
            </a:r>
          </a:p>
        </p:txBody>
      </p:sp>
      <p:sp>
        <p:nvSpPr>
          <p:cNvPr id="4" name="TextBox 3"/>
          <p:cNvSpPr txBox="1"/>
          <p:nvPr/>
        </p:nvSpPr>
        <p:spPr>
          <a:xfrm>
            <a:off x="777240" y="777240"/>
            <a:ext cx="1060704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A38"/>
                </a:solidFill>
                <a:latin typeface="Calibri"/>
              </a:rPr>
              <a:t>Two complementary drift regimes</a:t>
            </a:r>
          </a:p>
        </p:txBody>
      </p:sp>
      <p:sp>
        <p:nvSpPr>
          <p:cNvPr id="5" name="Rounded Rectangle 4"/>
          <p:cNvSpPr/>
          <p:nvPr/>
        </p:nvSpPr>
        <p:spPr>
          <a:xfrm>
            <a:off x="777240" y="1783080"/>
            <a:ext cx="3383280" cy="320040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69848" y="2112264"/>
            <a:ext cx="274320" cy="274320"/>
          </a:xfrm>
          <a:prstGeom prst="ellipse">
            <a:avLst/>
          </a:prstGeom>
          <a:solidFill>
            <a:srgbClr val="285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27048" y="2039112"/>
            <a:ext cx="2468880" cy="640080"/>
          </a:xfrm>
          <a:prstGeom prst="rect">
            <a:avLst/>
          </a:prstGeom>
          <a:noFill/>
        </p:spPr>
        <p:txBody>
          <a:bodyPr wrap="square" anchor="t" lIns="0" rIns="0" tIns="0" bIns="0">
            <a:spAutoFit/>
          </a:bodyPr>
          <a:lstStyle/>
          <a:p>
            <a:pPr algn="l">
              <a:lnSpc>
                <a:spcPct val="95000"/>
              </a:lnSpc>
              <a:spcBef>
                <a:spcPts val="0"/>
              </a:spcBef>
              <a:spcAft>
                <a:spcPts val="400"/>
              </a:spcAft>
            </a:pPr>
            <a:r>
              <a:rPr sz="1500" b="1" i="0">
                <a:solidFill>
                  <a:srgbClr val="1E2A38"/>
                </a:solidFill>
                <a:latin typeface="Calibri"/>
              </a:rPr>
              <a:t>Folktables — natural, gradual</a:t>
            </a:r>
          </a:p>
        </p:txBody>
      </p:sp>
      <p:sp>
        <p:nvSpPr>
          <p:cNvPr id="8" name="TextBox 7"/>
          <p:cNvSpPr txBox="1"/>
          <p:nvPr/>
        </p:nvSpPr>
        <p:spPr>
          <a:xfrm>
            <a:off x="1088136" y="3017520"/>
            <a:ext cx="2834640" cy="1828800"/>
          </a:xfrm>
          <a:prstGeom prst="rect">
            <a:avLst/>
          </a:prstGeom>
          <a:noFill/>
        </p:spPr>
        <p:txBody>
          <a:bodyPr wrap="square" anchor="t" lIns="0" rIns="0" tIns="0" bIns="0">
            <a:spAutoFit/>
          </a:bodyPr>
          <a:lstStyle/>
          <a:p>
            <a:pPr algn="l">
              <a:lnSpc>
                <a:spcPct val="102000"/>
              </a:lnSpc>
              <a:spcBef>
                <a:spcPts val="0"/>
              </a:spcBef>
              <a:spcAft>
                <a:spcPts val="700"/>
              </a:spcAft>
            </a:pPr>
            <a:r>
              <a:rPr sz="1300" b="0" i="0">
                <a:solidFill>
                  <a:srgbClr val="384657"/>
                </a:solidFill>
                <a:latin typeface="Calibri"/>
              </a:rPr>
              <a:t>ACS Income (CA), ~187k rows</a:t>
            </a:r>
          </a:p>
          <a:p>
            <a:pPr algn="l">
              <a:lnSpc>
                <a:spcPct val="102000"/>
              </a:lnSpc>
              <a:spcBef>
                <a:spcPts val="0"/>
              </a:spcBef>
              <a:spcAft>
                <a:spcPts val="700"/>
              </a:spcAft>
            </a:pPr>
            <a:r>
              <a:rPr sz="1300" b="0" i="0">
                <a:solidFill>
                  <a:srgbClr val="384657"/>
                </a:solidFill>
                <a:latin typeface="Calibri"/>
              </a:rPr>
              <a:t>Real cross-year shift:</a:t>
            </a:r>
          </a:p>
          <a:p>
            <a:pPr algn="l">
              <a:lnSpc>
                <a:spcPct val="102000"/>
              </a:lnSpc>
              <a:spcBef>
                <a:spcPts val="0"/>
              </a:spcBef>
              <a:spcAft>
                <a:spcPts val="700"/>
              </a:spcAft>
            </a:pPr>
            <a:r>
              <a:rPr sz="1300" b="0" i="0">
                <a:solidFill>
                  <a:srgbClr val="384657"/>
                </a:solidFill>
                <a:latin typeface="Calibri"/>
              </a:rPr>
              <a:t>  2015 train → 2017–18 stream</a:t>
            </a:r>
          </a:p>
          <a:p>
            <a:pPr algn="l">
              <a:lnSpc>
                <a:spcPct val="102000"/>
              </a:lnSpc>
              <a:spcBef>
                <a:spcPts val="0"/>
              </a:spcBef>
              <a:spcAft>
                <a:spcPts val="700"/>
              </a:spcAft>
            </a:pPr>
            <a:r>
              <a:rPr sz="1300" b="0" i="0">
                <a:solidFill>
                  <a:srgbClr val="384657"/>
                </a:solidFill>
                <a:latin typeface="Calibri"/>
              </a:rPr>
              <a:t>Group = sex × race (joint)</a:t>
            </a:r>
          </a:p>
        </p:txBody>
      </p:sp>
      <p:sp>
        <p:nvSpPr>
          <p:cNvPr id="9" name="Rounded Rectangle 8"/>
          <p:cNvSpPr/>
          <p:nvPr/>
        </p:nvSpPr>
        <p:spPr>
          <a:xfrm>
            <a:off x="4416552" y="1783080"/>
            <a:ext cx="3383280" cy="320040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709160" y="2112264"/>
            <a:ext cx="274320" cy="274320"/>
          </a:xfrm>
          <a:prstGeom prst="ellipse">
            <a:avLst/>
          </a:prstGeom>
          <a:solidFill>
            <a:srgbClr val="F57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60" y="2039112"/>
            <a:ext cx="2468880" cy="640080"/>
          </a:xfrm>
          <a:prstGeom prst="rect">
            <a:avLst/>
          </a:prstGeom>
          <a:noFill/>
        </p:spPr>
        <p:txBody>
          <a:bodyPr wrap="square" anchor="t" lIns="0" rIns="0" tIns="0" bIns="0">
            <a:spAutoFit/>
          </a:bodyPr>
          <a:lstStyle/>
          <a:p>
            <a:pPr algn="l">
              <a:lnSpc>
                <a:spcPct val="95000"/>
              </a:lnSpc>
              <a:spcBef>
                <a:spcPts val="0"/>
              </a:spcBef>
              <a:spcAft>
                <a:spcPts val="400"/>
              </a:spcAft>
            </a:pPr>
            <a:r>
              <a:rPr sz="1500" b="1" i="0">
                <a:solidFill>
                  <a:srgbClr val="1E2A38"/>
                </a:solidFill>
                <a:latin typeface="Calibri"/>
              </a:rPr>
              <a:t>COMPAS — synthetic, abrupt</a:t>
            </a:r>
          </a:p>
        </p:txBody>
      </p:sp>
      <p:sp>
        <p:nvSpPr>
          <p:cNvPr id="12" name="TextBox 11"/>
          <p:cNvSpPr txBox="1"/>
          <p:nvPr/>
        </p:nvSpPr>
        <p:spPr>
          <a:xfrm>
            <a:off x="4727448" y="3017520"/>
            <a:ext cx="2834640" cy="1828800"/>
          </a:xfrm>
          <a:prstGeom prst="rect">
            <a:avLst/>
          </a:prstGeom>
          <a:noFill/>
        </p:spPr>
        <p:txBody>
          <a:bodyPr wrap="square" anchor="t" lIns="0" rIns="0" tIns="0" bIns="0">
            <a:spAutoFit/>
          </a:bodyPr>
          <a:lstStyle/>
          <a:p>
            <a:pPr algn="l">
              <a:lnSpc>
                <a:spcPct val="102000"/>
              </a:lnSpc>
              <a:spcBef>
                <a:spcPts val="0"/>
              </a:spcBef>
              <a:spcAft>
                <a:spcPts val="700"/>
              </a:spcAft>
            </a:pPr>
            <a:r>
              <a:rPr sz="1300" b="0" i="0">
                <a:solidFill>
                  <a:srgbClr val="384657"/>
                </a:solidFill>
                <a:latin typeface="Calibri"/>
              </a:rPr>
              <a:t>7.2k rows, controlled testbed</a:t>
            </a:r>
          </a:p>
          <a:p>
            <a:pPr algn="l">
              <a:lnSpc>
                <a:spcPct val="102000"/>
              </a:lnSpc>
              <a:spcBef>
                <a:spcPts val="0"/>
              </a:spcBef>
              <a:spcAft>
                <a:spcPts val="700"/>
              </a:spcAft>
            </a:pPr>
            <a:r>
              <a:rPr sz="1300" b="0" i="0">
                <a:solidFill>
                  <a:srgbClr val="384657"/>
                </a:solidFill>
                <a:latin typeface="Calibri"/>
              </a:rPr>
              <a:t>Symmetric race swap +</a:t>
            </a:r>
          </a:p>
          <a:p>
            <a:pPr algn="l">
              <a:lnSpc>
                <a:spcPct val="102000"/>
              </a:lnSpc>
              <a:spcBef>
                <a:spcPts val="0"/>
              </a:spcBef>
              <a:spcAft>
                <a:spcPts val="700"/>
              </a:spcAft>
            </a:pPr>
            <a:r>
              <a:rPr sz="1300" b="0" i="0">
                <a:solidFill>
                  <a:srgbClr val="384657"/>
                </a:solidFill>
                <a:latin typeface="Calibri"/>
              </a:rPr>
              <a:t>  Bernoulli(0.5) label flip</a:t>
            </a:r>
          </a:p>
          <a:p>
            <a:pPr algn="l">
              <a:lnSpc>
                <a:spcPct val="102000"/>
              </a:lnSpc>
              <a:spcBef>
                <a:spcPts val="0"/>
              </a:spcBef>
              <a:spcAft>
                <a:spcPts val="700"/>
              </a:spcAft>
            </a:pPr>
            <a:r>
              <a:rPr sz="1300" b="0" i="0">
                <a:solidFill>
                  <a:srgbClr val="384657"/>
                </a:solidFill>
                <a:latin typeface="Calibri"/>
              </a:rPr>
              <a:t>no_drift vs abrupt_race scenarios</a:t>
            </a:r>
          </a:p>
        </p:txBody>
      </p:sp>
      <p:sp>
        <p:nvSpPr>
          <p:cNvPr id="13" name="Rounded Rectangle 12"/>
          <p:cNvSpPr/>
          <p:nvPr/>
        </p:nvSpPr>
        <p:spPr>
          <a:xfrm>
            <a:off x="8055864" y="1783080"/>
            <a:ext cx="3383280" cy="320040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48472" y="2112264"/>
            <a:ext cx="274320" cy="274320"/>
          </a:xfrm>
          <a:prstGeom prst="ellipse">
            <a:avLst/>
          </a:prstGeom>
          <a:solidFill>
            <a:srgbClr val="379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05672" y="2039112"/>
            <a:ext cx="2468880" cy="640080"/>
          </a:xfrm>
          <a:prstGeom prst="rect">
            <a:avLst/>
          </a:prstGeom>
          <a:noFill/>
        </p:spPr>
        <p:txBody>
          <a:bodyPr wrap="square" anchor="t" lIns="0" rIns="0" tIns="0" bIns="0">
            <a:spAutoFit/>
          </a:bodyPr>
          <a:lstStyle/>
          <a:p>
            <a:pPr algn="l">
              <a:lnSpc>
                <a:spcPct val="95000"/>
              </a:lnSpc>
              <a:spcBef>
                <a:spcPts val="0"/>
              </a:spcBef>
              <a:spcAft>
                <a:spcPts val="400"/>
              </a:spcAft>
            </a:pPr>
            <a:r>
              <a:rPr sz="1500" b="1" i="0">
                <a:solidFill>
                  <a:srgbClr val="1E2A38"/>
                </a:solidFill>
                <a:latin typeface="Calibri"/>
              </a:rPr>
              <a:t>Protocol</a:t>
            </a:r>
          </a:p>
        </p:txBody>
      </p:sp>
      <p:sp>
        <p:nvSpPr>
          <p:cNvPr id="16" name="TextBox 15"/>
          <p:cNvSpPr txBox="1"/>
          <p:nvPr/>
        </p:nvSpPr>
        <p:spPr>
          <a:xfrm>
            <a:off x="8366760" y="3017520"/>
            <a:ext cx="2834640" cy="1828800"/>
          </a:xfrm>
          <a:prstGeom prst="rect">
            <a:avLst/>
          </a:prstGeom>
          <a:noFill/>
        </p:spPr>
        <p:txBody>
          <a:bodyPr wrap="square" anchor="t" lIns="0" rIns="0" tIns="0" bIns="0">
            <a:spAutoFit/>
          </a:bodyPr>
          <a:lstStyle/>
          <a:p>
            <a:pPr algn="l">
              <a:lnSpc>
                <a:spcPct val="102000"/>
              </a:lnSpc>
              <a:spcBef>
                <a:spcPts val="0"/>
              </a:spcBef>
              <a:spcAft>
                <a:spcPts val="700"/>
              </a:spcAft>
            </a:pPr>
            <a:r>
              <a:rPr sz="1300" b="0" i="0">
                <a:solidFill>
                  <a:srgbClr val="384657"/>
                </a:solidFill>
                <a:latin typeface="Calibri"/>
              </a:rPr>
              <a:t>Prequential test-then-train</a:t>
            </a:r>
          </a:p>
          <a:p>
            <a:pPr algn="l">
              <a:lnSpc>
                <a:spcPct val="102000"/>
              </a:lnSpc>
              <a:spcBef>
                <a:spcPts val="0"/>
              </a:spcBef>
              <a:spcAft>
                <a:spcPts val="700"/>
              </a:spcAft>
            </a:pPr>
            <a:r>
              <a:rPr sz="1300" b="0" i="0">
                <a:solidFill>
                  <a:srgbClr val="384657"/>
                </a:solidFill>
                <a:latin typeface="Calibri"/>
              </a:rPr>
              <a:t>Batch size 1 · 30 pinned seeds</a:t>
            </a:r>
          </a:p>
          <a:p>
            <a:pPr algn="l">
              <a:lnSpc>
                <a:spcPct val="102000"/>
              </a:lnSpc>
              <a:spcBef>
                <a:spcPts val="0"/>
              </a:spcBef>
              <a:spcAft>
                <a:spcPts val="700"/>
              </a:spcAft>
            </a:pPr>
            <a:r>
              <a:rPr sz="1300" b="0" i="0">
                <a:solidFill>
                  <a:srgbClr val="384657"/>
                </a:solidFill>
                <a:latin typeface="Calibri"/>
              </a:rPr>
              <a:t>Paired Wilcoxon + Holm–Bonferroni</a:t>
            </a:r>
          </a:p>
          <a:p>
            <a:pPr algn="l">
              <a:lnSpc>
                <a:spcPct val="102000"/>
              </a:lnSpc>
              <a:spcBef>
                <a:spcPts val="0"/>
              </a:spcBef>
              <a:spcAft>
                <a:spcPts val="700"/>
              </a:spcAft>
            </a:pPr>
            <a:r>
              <a:rPr sz="1300" b="0" i="0">
                <a:solidFill>
                  <a:srgbClr val="384657"/>
                </a:solidFill>
                <a:latin typeface="Calibri"/>
              </a:rPr>
              <a:t>Welch t-test as cross-check</a:t>
            </a:r>
          </a:p>
        </p:txBody>
      </p:sp>
      <p:sp>
        <p:nvSpPr>
          <p:cNvPr id="17" name="TextBox 16"/>
          <p:cNvSpPr txBox="1"/>
          <p:nvPr/>
        </p:nvSpPr>
        <p:spPr>
          <a:xfrm>
            <a:off x="777240" y="5257800"/>
            <a:ext cx="10607040" cy="640080"/>
          </a:xfrm>
          <a:prstGeom prst="rect">
            <a:avLst/>
          </a:prstGeom>
          <a:noFill/>
        </p:spPr>
        <p:txBody>
          <a:bodyPr wrap="square" anchor="t" lIns="0" rIns="0" tIns="0" bIns="0">
            <a:spAutoFit/>
          </a:bodyPr>
          <a:lstStyle/>
          <a:p>
            <a:pPr algn="l">
              <a:lnSpc>
                <a:spcPct val="105000"/>
              </a:lnSpc>
              <a:spcBef>
                <a:spcPts val="0"/>
              </a:spcBef>
              <a:spcAft>
                <a:spcPts val="400"/>
              </a:spcAft>
            </a:pPr>
            <a:r>
              <a:rPr sz="1350" b="1" i="0">
                <a:solidFill>
                  <a:srgbClr val="1E2A38"/>
                </a:solidFill>
                <a:latin typeface="Calibri"/>
              </a:rPr>
              <a:t>Baselines (held fixed): </a:t>
            </a:r>
            <a:r>
              <a:rPr sz="1350" b="0" i="0">
                <a:solidFill>
                  <a:srgbClr val="384657"/>
                </a:solidFill>
                <a:latin typeface="Calibri"/>
              </a:rPr>
              <a:t>ARF (adaptive, unfair), RFR (fair, static), and a controller-free Aranyani ablation that shares the base learner, loss, window and seed-pinned data order — so any FADO–Aranyani gap is the controller alone.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57823"/>
                </a:solidFill>
                <a:latin typeface="Calibri"/>
              </a:rPr>
              <a:t>RESULTS I  ·  MARGINAL (SINGLE-ATTRIBUTE) — AS SUBMITTED</a:t>
            </a:r>
          </a:p>
        </p:txBody>
      </p:sp>
      <p:sp>
        <p:nvSpPr>
          <p:cNvPr id="4" name="TextBox 3"/>
          <p:cNvSpPr txBox="1"/>
          <p:nvPr/>
        </p:nvSpPr>
        <p:spPr>
          <a:xfrm>
            <a:off x="777240" y="777240"/>
            <a:ext cx="1060704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A38"/>
                </a:solidFill>
                <a:latin typeface="Calibri"/>
              </a:rPr>
              <a:t>Drift erodes fairness; the controller helps most on abrupt shift</a:t>
            </a:r>
          </a:p>
        </p:txBody>
      </p:sp>
      <p:graphicFrame>
        <p:nvGraphicFramePr>
          <p:cNvPr id="5" name="Table 4"/>
          <p:cNvGraphicFramePr>
            <a:graphicFrameLocks noGrp="1"/>
          </p:cNvGraphicFramePr>
          <p:nvPr/>
        </p:nvGraphicFramePr>
        <p:xfrm>
          <a:off x="777240" y="1874519"/>
          <a:ext cx="6400800" cy="3291840"/>
        </p:xfrm>
        <a:graphic>
          <a:graphicData uri="http://schemas.openxmlformats.org/drawingml/2006/table">
            <a:tbl>
              <a:tblPr firstRow="1" bandRow="1">
                <a:tableStyleId>{5C22544A-7EE6-4342-B048-85BDC9FD1C3A}</a:tableStyleId>
              </a:tblPr>
              <a:tblGrid>
                <a:gridCol w="1554480"/>
                <a:gridCol w="1417320"/>
                <a:gridCol w="1143000"/>
                <a:gridCol w="1143000"/>
                <a:gridCol w="1143000"/>
              </a:tblGrid>
              <a:tr h="365760">
                <a:tc>
                  <a:txBody>
                    <a:bodyPr/>
                    <a:lstStyle/>
                    <a:p>
                      <a:pPr algn="l"/>
                      <a:r>
                        <a:rPr sz="1250" b="1">
                          <a:solidFill>
                            <a:srgbClr val="FFFFFF"/>
                          </a:solidFill>
                          <a:latin typeface="Calibri"/>
                        </a:rPr>
                        <a:t>Dataset</a:t>
                      </a:r>
                    </a:p>
                  </a:txBody>
                  <a:tcPr marL="54864" marR="36576" marT="9144" marB="9144" anchor="ctr">
                    <a:solidFill>
                      <a:srgbClr val="12233F"/>
                    </a:solidFill>
                  </a:tcPr>
                </a:tc>
                <a:tc>
                  <a:txBody>
                    <a:bodyPr/>
                    <a:lstStyle/>
                    <a:p>
                      <a:pPr algn="l"/>
                      <a:r>
                        <a:rPr sz="1250" b="1">
                          <a:solidFill>
                            <a:srgbClr val="FFFFFF"/>
                          </a:solidFill>
                          <a:latin typeface="Calibri"/>
                        </a:rPr>
                        <a:t>Model</a:t>
                      </a:r>
                    </a:p>
                  </a:txBody>
                  <a:tcPr marL="54864" marR="36576" marT="9144" marB="9144" anchor="ctr">
                    <a:solidFill>
                      <a:srgbClr val="12233F"/>
                    </a:solidFill>
                  </a:tcPr>
                </a:tc>
                <a:tc>
                  <a:txBody>
                    <a:bodyPr/>
                    <a:lstStyle/>
                    <a:p>
                      <a:pPr algn="ctr"/>
                      <a:r>
                        <a:rPr sz="1250" b="1">
                          <a:solidFill>
                            <a:srgbClr val="FFFFFF"/>
                          </a:solidFill>
                          <a:latin typeface="Calibri"/>
                        </a:rPr>
                        <a:t>Acc ↑</a:t>
                      </a:r>
                    </a:p>
                  </a:txBody>
                  <a:tcPr marL="54864" marR="36576" marT="9144" marB="9144" anchor="ctr">
                    <a:solidFill>
                      <a:srgbClr val="12233F"/>
                    </a:solidFill>
                  </a:tcPr>
                </a:tc>
                <a:tc>
                  <a:txBody>
                    <a:bodyPr/>
                    <a:lstStyle/>
                    <a:p>
                      <a:pPr algn="ctr"/>
                      <a:r>
                        <a:rPr sz="1250" b="1">
                          <a:solidFill>
                            <a:srgbClr val="FFFFFF"/>
                          </a:solidFill>
                          <a:latin typeface="Calibri"/>
                        </a:rPr>
                        <a:t>DP ↓</a:t>
                      </a:r>
                    </a:p>
                  </a:txBody>
                  <a:tcPr marL="54864" marR="36576" marT="9144" marB="9144" anchor="ctr">
                    <a:solidFill>
                      <a:srgbClr val="12233F"/>
                    </a:solidFill>
                  </a:tcPr>
                </a:tc>
                <a:tc>
                  <a:txBody>
                    <a:bodyPr/>
                    <a:lstStyle/>
                    <a:p>
                      <a:pPr algn="ctr"/>
                      <a:r>
                        <a:rPr sz="1250" b="1">
                          <a:solidFill>
                            <a:srgbClr val="FFFFFF"/>
                          </a:solidFill>
                          <a:latin typeface="Calibri"/>
                        </a:rPr>
                        <a:t>EO ↓</a:t>
                      </a:r>
                    </a:p>
                  </a:txBody>
                  <a:tcPr marL="54864" marR="36576" marT="9144" marB="9144" anchor="ctr">
                    <a:solidFill>
                      <a:srgbClr val="12233F"/>
                    </a:solidFill>
                  </a:tcPr>
                </a:tc>
              </a:tr>
              <a:tr h="365760">
                <a:tc rowSpan="4">
                  <a:txBody>
                    <a:bodyPr/>
                    <a:lstStyle/>
                    <a:p>
                      <a:pPr algn="l"/>
                      <a:r>
                        <a:rPr sz="1250" b="1">
                          <a:solidFill>
                            <a:srgbClr val="1E2A38"/>
                          </a:solidFill>
                          <a:latin typeface="Calibri"/>
                        </a:rPr>
                        <a:t>Folktables</a:t>
                      </a:r>
                    </a:p>
                  </a:txBody>
                  <a:tcPr marL="54864" marR="36576" marT="9144" marB="9144" anchor="ctr">
                    <a:solidFill>
                      <a:srgbClr val="E7EEFB"/>
                    </a:solidFill>
                  </a:tcPr>
                </a:tc>
                <a:tc>
                  <a:txBody>
                    <a:bodyPr/>
                    <a:lstStyle/>
                    <a:p>
                      <a:pPr algn="l"/>
                      <a:r>
                        <a:rPr sz="1250" b="1">
                          <a:solidFill>
                            <a:srgbClr val="285AE6"/>
                          </a:solidFill>
                          <a:latin typeface="Calibri"/>
                        </a:rPr>
                        <a:t>FADO</a:t>
                      </a:r>
                    </a:p>
                  </a:txBody>
                  <a:tcPr marL="54864" marR="36576" marT="9144" marB="9144" anchor="ctr">
                    <a:solidFill>
                      <a:srgbClr val="E7EEFB"/>
                    </a:solidFill>
                  </a:tcPr>
                </a:tc>
                <a:tc>
                  <a:txBody>
                    <a:bodyPr/>
                    <a:lstStyle/>
                    <a:p>
                      <a:pPr algn="ctr"/>
                      <a:r>
                        <a:rPr sz="1250" b="0">
                          <a:solidFill>
                            <a:srgbClr val="285AE6"/>
                          </a:solidFill>
                          <a:latin typeface="Calibri"/>
                        </a:rPr>
                        <a:t>0.8033</a:t>
                      </a:r>
                    </a:p>
                  </a:txBody>
                  <a:tcPr marL="54864" marR="36576" marT="9144" marB="9144" anchor="ctr">
                    <a:solidFill>
                      <a:srgbClr val="E7EEFB"/>
                    </a:solidFill>
                  </a:tcPr>
                </a:tc>
                <a:tc>
                  <a:txBody>
                    <a:bodyPr/>
                    <a:lstStyle/>
                    <a:p>
                      <a:pPr algn="ctr"/>
                      <a:r>
                        <a:rPr sz="1250" b="1">
                          <a:solidFill>
                            <a:srgbClr val="285AE6"/>
                          </a:solidFill>
                          <a:latin typeface="Calibri"/>
                        </a:rPr>
                        <a:t>0.0284**</a:t>
                      </a:r>
                    </a:p>
                  </a:txBody>
                  <a:tcPr marL="54864" marR="36576" marT="9144" marB="9144" anchor="ctr">
                    <a:solidFill>
                      <a:srgbClr val="E7EEFB"/>
                    </a:solidFill>
                  </a:tcPr>
                </a:tc>
                <a:tc>
                  <a:txBody>
                    <a:bodyPr/>
                    <a:lstStyle/>
                    <a:p>
                      <a:pPr algn="ctr"/>
                      <a:r>
                        <a:rPr sz="1250" b="0">
                          <a:solidFill>
                            <a:srgbClr val="285AE6"/>
                          </a:solidFill>
                          <a:latin typeface="Calibri"/>
                        </a:rPr>
                        <a:t>0.0281</a:t>
                      </a:r>
                    </a:p>
                  </a:txBody>
                  <a:tcPr marL="54864" marR="36576" marT="9144" marB="9144" anchor="ctr">
                    <a:solidFill>
                      <a:srgbClr val="E7EEFB"/>
                    </a:solidFill>
                  </a:tcPr>
                </a:tc>
              </a:tr>
              <a:tr h="365760">
                <a:tc vMerge="1">
                  <a:txBody>
                    <a:bodyPr/>
                    <a:lstStyle/>
                    <a:p>
                      <a:pPr algn="l"/>
                      <a:r>
                        <a:rPr sz="1250" b="1">
                          <a:solidFill>
                            <a:srgbClr val="1E2A38"/>
                          </a:solidFill>
                          <a:latin typeface="Calibri"/>
                        </a:rPr>
                        <a:t/>
                      </a:r>
                    </a:p>
                  </a:txBody>
                  <a:tcPr marL="54864" marR="36576" marT="9144" marB="9144" anchor="ctr">
                    <a:solidFill>
                      <a:srgbClr val="F4F7FA"/>
                    </a:solidFill>
                  </a:tcPr>
                </a:tc>
                <a:tc>
                  <a:txBody>
                    <a:bodyPr/>
                    <a:lstStyle/>
                    <a:p>
                      <a:pPr algn="l"/>
                      <a:r>
                        <a:rPr sz="1250" b="0">
                          <a:solidFill>
                            <a:srgbClr val="1E2A38"/>
                          </a:solidFill>
                          <a:latin typeface="Calibri"/>
                        </a:rPr>
                        <a:t>Aranyani</a:t>
                      </a:r>
                    </a:p>
                  </a:txBody>
                  <a:tcPr marL="54864" marR="36576" marT="9144" marB="9144" anchor="ctr">
                    <a:solidFill>
                      <a:srgbClr val="F4F7FA"/>
                    </a:solidFill>
                  </a:tcPr>
                </a:tc>
                <a:tc>
                  <a:txBody>
                    <a:bodyPr/>
                    <a:lstStyle/>
                    <a:p>
                      <a:pPr algn="ctr"/>
                      <a:r>
                        <a:rPr sz="1250" b="1">
                          <a:solidFill>
                            <a:srgbClr val="1E2A38"/>
                          </a:solidFill>
                          <a:latin typeface="Calibri"/>
                        </a:rPr>
                        <a:t>0.8053</a:t>
                      </a:r>
                    </a:p>
                  </a:txBody>
                  <a:tcPr marL="54864" marR="36576" marT="9144" marB="9144" anchor="ctr">
                    <a:solidFill>
                      <a:srgbClr val="F4F7FA"/>
                    </a:solidFill>
                  </a:tcPr>
                </a:tc>
                <a:tc>
                  <a:txBody>
                    <a:bodyPr/>
                    <a:lstStyle/>
                    <a:p>
                      <a:pPr algn="ctr"/>
                      <a:r>
                        <a:rPr sz="1250" b="0">
                          <a:solidFill>
                            <a:srgbClr val="1E2A38"/>
                          </a:solidFill>
                          <a:latin typeface="Calibri"/>
                        </a:rPr>
                        <a:t>0.0299</a:t>
                      </a:r>
                    </a:p>
                  </a:txBody>
                  <a:tcPr marL="54864" marR="36576" marT="9144" marB="9144" anchor="ctr">
                    <a:solidFill>
                      <a:srgbClr val="F4F7FA"/>
                    </a:solidFill>
                  </a:tcPr>
                </a:tc>
                <a:tc>
                  <a:txBody>
                    <a:bodyPr/>
                    <a:lstStyle/>
                    <a:p>
                      <a:pPr algn="ctr"/>
                      <a:r>
                        <a:rPr sz="1250" b="1">
                          <a:solidFill>
                            <a:srgbClr val="1E2A38"/>
                          </a:solidFill>
                          <a:latin typeface="Calibri"/>
                        </a:rPr>
                        <a:t>0.0257</a:t>
                      </a:r>
                    </a:p>
                  </a:txBody>
                  <a:tcPr marL="54864" marR="36576" marT="9144" marB="9144" anchor="ctr">
                    <a:solidFill>
                      <a:srgbClr val="F4F7FA"/>
                    </a:solidFill>
                  </a:tcPr>
                </a:tc>
              </a:tr>
              <a:tr h="365760">
                <a:tc vMerge="1">
                  <a:txBody>
                    <a:bodyPr/>
                    <a:lstStyle/>
                    <a:p>
                      <a:pPr algn="l"/>
                      <a:r>
                        <a:rPr sz="1250" b="1">
                          <a:solidFill>
                            <a:srgbClr val="1E2A38"/>
                          </a:solidFill>
                          <a:latin typeface="Calibri"/>
                        </a:rPr>
                        <a:t/>
                      </a:r>
                    </a:p>
                  </a:txBody>
                  <a:tcPr marL="54864" marR="36576" marT="9144" marB="9144" anchor="ctr">
                    <a:solidFill>
                      <a:srgbClr val="FFFFFF"/>
                    </a:solidFill>
                  </a:tcPr>
                </a:tc>
                <a:tc>
                  <a:txBody>
                    <a:bodyPr/>
                    <a:lstStyle/>
                    <a:p>
                      <a:pPr algn="l"/>
                      <a:r>
                        <a:rPr sz="1250" b="0">
                          <a:solidFill>
                            <a:srgbClr val="1E2A38"/>
                          </a:solidFill>
                          <a:latin typeface="Calibri"/>
                        </a:rPr>
                        <a:t>ARF</a:t>
                      </a:r>
                    </a:p>
                  </a:txBody>
                  <a:tcPr marL="54864" marR="36576" marT="9144" marB="9144" anchor="ctr">
                    <a:solidFill>
                      <a:srgbClr val="FFFFFF"/>
                    </a:solidFill>
                  </a:tcPr>
                </a:tc>
                <a:tc>
                  <a:txBody>
                    <a:bodyPr/>
                    <a:lstStyle/>
                    <a:p>
                      <a:pPr algn="ctr"/>
                      <a:r>
                        <a:rPr sz="1250" b="0">
                          <a:solidFill>
                            <a:srgbClr val="1E2A38"/>
                          </a:solidFill>
                          <a:latin typeface="Calibri"/>
                        </a:rPr>
                        <a:t>0.7447</a:t>
                      </a:r>
                    </a:p>
                  </a:txBody>
                  <a:tcPr marL="54864" marR="36576" marT="9144" marB="9144" anchor="ctr">
                    <a:solidFill>
                      <a:srgbClr val="FFFFFF"/>
                    </a:solidFill>
                  </a:tcPr>
                </a:tc>
                <a:tc>
                  <a:txBody>
                    <a:bodyPr/>
                    <a:lstStyle/>
                    <a:p>
                      <a:pPr algn="ctr"/>
                      <a:r>
                        <a:rPr sz="1250" b="0">
                          <a:solidFill>
                            <a:srgbClr val="1E2A38"/>
                          </a:solidFill>
                          <a:latin typeface="Calibri"/>
                        </a:rPr>
                        <a:t>0.0722</a:t>
                      </a:r>
                    </a:p>
                  </a:txBody>
                  <a:tcPr marL="54864" marR="36576" marT="9144" marB="9144" anchor="ctr">
                    <a:solidFill>
                      <a:srgbClr val="FFFFFF"/>
                    </a:solidFill>
                  </a:tcPr>
                </a:tc>
                <a:tc>
                  <a:txBody>
                    <a:bodyPr/>
                    <a:lstStyle/>
                    <a:p>
                      <a:pPr algn="ctr"/>
                      <a:r>
                        <a:rPr sz="1250" b="0">
                          <a:solidFill>
                            <a:srgbClr val="1E2A38"/>
                          </a:solidFill>
                          <a:latin typeface="Calibri"/>
                        </a:rPr>
                        <a:t>0.0743</a:t>
                      </a:r>
                    </a:p>
                  </a:txBody>
                  <a:tcPr marL="54864" marR="36576" marT="9144" marB="9144" anchor="ctr">
                    <a:solidFill>
                      <a:srgbClr val="FFFFFF"/>
                    </a:solidFill>
                  </a:tcPr>
                </a:tc>
              </a:tr>
              <a:tr h="365760">
                <a:tc vMerge="1">
                  <a:txBody>
                    <a:bodyPr/>
                    <a:lstStyle/>
                    <a:p>
                      <a:pPr algn="l"/>
                      <a:r>
                        <a:rPr sz="1250" b="1">
                          <a:solidFill>
                            <a:srgbClr val="1E2A38"/>
                          </a:solidFill>
                          <a:latin typeface="Calibri"/>
                        </a:rPr>
                        <a:t/>
                      </a:r>
                    </a:p>
                  </a:txBody>
                  <a:tcPr marL="54864" marR="36576" marT="9144" marB="9144" anchor="ctr">
                    <a:solidFill>
                      <a:srgbClr val="F4F7FA"/>
                    </a:solidFill>
                  </a:tcPr>
                </a:tc>
                <a:tc>
                  <a:txBody>
                    <a:bodyPr/>
                    <a:lstStyle/>
                    <a:p>
                      <a:pPr algn="l"/>
                      <a:r>
                        <a:rPr sz="1250" b="0">
                          <a:solidFill>
                            <a:srgbClr val="1E2A38"/>
                          </a:solidFill>
                          <a:latin typeface="Calibri"/>
                        </a:rPr>
                        <a:t>RFR</a:t>
                      </a:r>
                    </a:p>
                  </a:txBody>
                  <a:tcPr marL="54864" marR="36576" marT="9144" marB="9144" anchor="ctr">
                    <a:solidFill>
                      <a:srgbClr val="F4F7FA"/>
                    </a:solidFill>
                  </a:tcPr>
                </a:tc>
                <a:tc>
                  <a:txBody>
                    <a:bodyPr/>
                    <a:lstStyle/>
                    <a:p>
                      <a:pPr algn="ctr"/>
                      <a:r>
                        <a:rPr sz="1250" b="0">
                          <a:solidFill>
                            <a:srgbClr val="1E2A38"/>
                          </a:solidFill>
                          <a:latin typeface="Calibri"/>
                        </a:rPr>
                        <a:t>0.7780</a:t>
                      </a:r>
                    </a:p>
                  </a:txBody>
                  <a:tcPr marL="54864" marR="36576" marT="9144" marB="9144" anchor="ctr">
                    <a:solidFill>
                      <a:srgbClr val="F4F7FA"/>
                    </a:solidFill>
                  </a:tcPr>
                </a:tc>
                <a:tc>
                  <a:txBody>
                    <a:bodyPr/>
                    <a:lstStyle/>
                    <a:p>
                      <a:pPr algn="ctr"/>
                      <a:r>
                        <a:rPr sz="1250" b="0">
                          <a:solidFill>
                            <a:srgbClr val="1E2A38"/>
                          </a:solidFill>
                          <a:latin typeface="Calibri"/>
                        </a:rPr>
                        <a:t>0.0733</a:t>
                      </a:r>
                    </a:p>
                  </a:txBody>
                  <a:tcPr marL="54864" marR="36576" marT="9144" marB="9144" anchor="ctr">
                    <a:solidFill>
                      <a:srgbClr val="F4F7FA"/>
                    </a:solidFill>
                  </a:tcPr>
                </a:tc>
                <a:tc>
                  <a:txBody>
                    <a:bodyPr/>
                    <a:lstStyle/>
                    <a:p>
                      <a:pPr algn="ctr"/>
                      <a:r>
                        <a:rPr sz="1250" b="0">
                          <a:solidFill>
                            <a:srgbClr val="1E2A38"/>
                          </a:solidFill>
                          <a:latin typeface="Calibri"/>
                        </a:rPr>
                        <a:t>0.0586</a:t>
                      </a:r>
                    </a:p>
                  </a:txBody>
                  <a:tcPr marL="54864" marR="36576" marT="9144" marB="9144" anchor="ctr">
                    <a:solidFill>
                      <a:srgbClr val="F4F7FA"/>
                    </a:solidFill>
                  </a:tcPr>
                </a:tc>
              </a:tr>
              <a:tr h="365760">
                <a:tc rowSpan="4">
                  <a:txBody>
                    <a:bodyPr/>
                    <a:lstStyle/>
                    <a:p>
                      <a:pPr algn="l"/>
                      <a:r>
                        <a:rPr sz="1250" b="1">
                          <a:solidFill>
                            <a:srgbClr val="1E2A38"/>
                          </a:solidFill>
                          <a:latin typeface="Calibri"/>
                        </a:rPr>
                        <a:t>COMPAS</a:t>
                      </a:r>
                    </a:p>
                  </a:txBody>
                  <a:tcPr marL="54864" marR="36576" marT="9144" marB="9144" anchor="ctr">
                    <a:solidFill>
                      <a:srgbClr val="E7EEFB"/>
                    </a:solidFill>
                  </a:tcPr>
                </a:tc>
                <a:tc>
                  <a:txBody>
                    <a:bodyPr/>
                    <a:lstStyle/>
                    <a:p>
                      <a:pPr algn="l"/>
                      <a:r>
                        <a:rPr sz="1250" b="1">
                          <a:solidFill>
                            <a:srgbClr val="285AE6"/>
                          </a:solidFill>
                          <a:latin typeface="Calibri"/>
                        </a:rPr>
                        <a:t>FADO</a:t>
                      </a:r>
                    </a:p>
                  </a:txBody>
                  <a:tcPr marL="54864" marR="36576" marT="9144" marB="9144" anchor="ctr">
                    <a:solidFill>
                      <a:srgbClr val="E7EEFB"/>
                    </a:solidFill>
                  </a:tcPr>
                </a:tc>
                <a:tc>
                  <a:txBody>
                    <a:bodyPr/>
                    <a:lstStyle/>
                    <a:p>
                      <a:pPr algn="ctr"/>
                      <a:r>
                        <a:rPr sz="1250" b="0">
                          <a:solidFill>
                            <a:srgbClr val="285AE6"/>
                          </a:solidFill>
                          <a:latin typeface="Calibri"/>
                        </a:rPr>
                        <a:t>0.6434</a:t>
                      </a:r>
                    </a:p>
                  </a:txBody>
                  <a:tcPr marL="54864" marR="36576" marT="9144" marB="9144" anchor="ctr">
                    <a:solidFill>
                      <a:srgbClr val="E7EEFB"/>
                    </a:solidFill>
                  </a:tcPr>
                </a:tc>
                <a:tc>
                  <a:txBody>
                    <a:bodyPr/>
                    <a:lstStyle/>
                    <a:p>
                      <a:pPr algn="ctr"/>
                      <a:r>
                        <a:rPr sz="1250" b="1">
                          <a:solidFill>
                            <a:srgbClr val="285AE6"/>
                          </a:solidFill>
                          <a:latin typeface="Calibri"/>
                        </a:rPr>
                        <a:t>0.0611***</a:t>
                      </a:r>
                    </a:p>
                  </a:txBody>
                  <a:tcPr marL="54864" marR="36576" marT="9144" marB="9144" anchor="ctr">
                    <a:solidFill>
                      <a:srgbClr val="E7EEFB"/>
                    </a:solidFill>
                  </a:tcPr>
                </a:tc>
                <a:tc>
                  <a:txBody>
                    <a:bodyPr/>
                    <a:lstStyle/>
                    <a:p>
                      <a:pPr algn="ctr"/>
                      <a:r>
                        <a:rPr sz="1250" b="1">
                          <a:solidFill>
                            <a:srgbClr val="285AE6"/>
                          </a:solidFill>
                          <a:latin typeface="Calibri"/>
                        </a:rPr>
                        <a:t>0.0923***</a:t>
                      </a:r>
                    </a:p>
                  </a:txBody>
                  <a:tcPr marL="54864" marR="36576" marT="9144" marB="9144" anchor="ctr">
                    <a:solidFill>
                      <a:srgbClr val="E7EEFB"/>
                    </a:solidFill>
                  </a:tcPr>
                </a:tc>
              </a:tr>
              <a:tr h="365760">
                <a:tc vMerge="1">
                  <a:txBody>
                    <a:bodyPr/>
                    <a:lstStyle/>
                    <a:p>
                      <a:pPr algn="l"/>
                      <a:r>
                        <a:rPr sz="1250" b="1">
                          <a:solidFill>
                            <a:srgbClr val="1E2A38"/>
                          </a:solidFill>
                          <a:latin typeface="Calibri"/>
                        </a:rPr>
                        <a:t/>
                      </a:r>
                    </a:p>
                  </a:txBody>
                  <a:tcPr marL="54864" marR="36576" marT="9144" marB="9144" anchor="ctr">
                    <a:solidFill>
                      <a:srgbClr val="F4F7FA"/>
                    </a:solidFill>
                  </a:tcPr>
                </a:tc>
                <a:tc>
                  <a:txBody>
                    <a:bodyPr/>
                    <a:lstStyle/>
                    <a:p>
                      <a:pPr algn="l"/>
                      <a:r>
                        <a:rPr sz="1250" b="0">
                          <a:solidFill>
                            <a:srgbClr val="1E2A38"/>
                          </a:solidFill>
                          <a:latin typeface="Calibri"/>
                        </a:rPr>
                        <a:t>Aranyani</a:t>
                      </a:r>
                    </a:p>
                  </a:txBody>
                  <a:tcPr marL="54864" marR="36576" marT="9144" marB="9144" anchor="ctr">
                    <a:solidFill>
                      <a:srgbClr val="F4F7FA"/>
                    </a:solidFill>
                  </a:tcPr>
                </a:tc>
                <a:tc>
                  <a:txBody>
                    <a:bodyPr/>
                    <a:lstStyle/>
                    <a:p>
                      <a:pPr algn="ctr"/>
                      <a:r>
                        <a:rPr sz="1250" b="1">
                          <a:solidFill>
                            <a:srgbClr val="1E2A38"/>
                          </a:solidFill>
                          <a:latin typeface="Calibri"/>
                        </a:rPr>
                        <a:t>0.6451</a:t>
                      </a:r>
                    </a:p>
                  </a:txBody>
                  <a:tcPr marL="54864" marR="36576" marT="9144" marB="9144" anchor="ctr">
                    <a:solidFill>
                      <a:srgbClr val="F4F7FA"/>
                    </a:solidFill>
                  </a:tcPr>
                </a:tc>
                <a:tc>
                  <a:txBody>
                    <a:bodyPr/>
                    <a:lstStyle/>
                    <a:p>
                      <a:pPr algn="ctr"/>
                      <a:r>
                        <a:rPr sz="1250" b="0">
                          <a:solidFill>
                            <a:srgbClr val="1E2A38"/>
                          </a:solidFill>
                          <a:latin typeface="Calibri"/>
                        </a:rPr>
                        <a:t>0.0679</a:t>
                      </a:r>
                    </a:p>
                  </a:txBody>
                  <a:tcPr marL="54864" marR="36576" marT="9144" marB="9144" anchor="ctr">
                    <a:solidFill>
                      <a:srgbClr val="F4F7FA"/>
                    </a:solidFill>
                  </a:tcPr>
                </a:tc>
                <a:tc>
                  <a:txBody>
                    <a:bodyPr/>
                    <a:lstStyle/>
                    <a:p>
                      <a:pPr algn="ctr"/>
                      <a:r>
                        <a:rPr sz="1250" b="0">
                          <a:solidFill>
                            <a:srgbClr val="1E2A38"/>
                          </a:solidFill>
                          <a:latin typeface="Calibri"/>
                        </a:rPr>
                        <a:t>0.0979</a:t>
                      </a:r>
                    </a:p>
                  </a:txBody>
                  <a:tcPr marL="54864" marR="36576" marT="9144" marB="9144" anchor="ctr">
                    <a:solidFill>
                      <a:srgbClr val="F4F7FA"/>
                    </a:solidFill>
                  </a:tcPr>
                </a:tc>
              </a:tr>
              <a:tr h="365760">
                <a:tc vMerge="1">
                  <a:txBody>
                    <a:bodyPr/>
                    <a:lstStyle/>
                    <a:p>
                      <a:pPr algn="l"/>
                      <a:r>
                        <a:rPr sz="1250" b="1">
                          <a:solidFill>
                            <a:srgbClr val="1E2A38"/>
                          </a:solidFill>
                          <a:latin typeface="Calibri"/>
                        </a:rPr>
                        <a:t/>
                      </a:r>
                    </a:p>
                  </a:txBody>
                  <a:tcPr marL="54864" marR="36576" marT="9144" marB="9144" anchor="ctr">
                    <a:solidFill>
                      <a:srgbClr val="FFFFFF"/>
                    </a:solidFill>
                  </a:tcPr>
                </a:tc>
                <a:tc>
                  <a:txBody>
                    <a:bodyPr/>
                    <a:lstStyle/>
                    <a:p>
                      <a:pPr algn="l"/>
                      <a:r>
                        <a:rPr sz="1250" b="0">
                          <a:solidFill>
                            <a:srgbClr val="1E2A38"/>
                          </a:solidFill>
                          <a:latin typeface="Calibri"/>
                        </a:rPr>
                        <a:t>ARF</a:t>
                      </a:r>
                    </a:p>
                  </a:txBody>
                  <a:tcPr marL="54864" marR="36576" marT="9144" marB="9144" anchor="ctr">
                    <a:solidFill>
                      <a:srgbClr val="FFFFFF"/>
                    </a:solidFill>
                  </a:tcPr>
                </a:tc>
                <a:tc>
                  <a:txBody>
                    <a:bodyPr/>
                    <a:lstStyle/>
                    <a:p>
                      <a:pPr algn="ctr"/>
                      <a:r>
                        <a:rPr sz="1250" b="0">
                          <a:solidFill>
                            <a:srgbClr val="1E2A38"/>
                          </a:solidFill>
                          <a:latin typeface="Calibri"/>
                        </a:rPr>
                        <a:t>0.6313</a:t>
                      </a:r>
                    </a:p>
                  </a:txBody>
                  <a:tcPr marL="54864" marR="36576" marT="9144" marB="9144" anchor="ctr">
                    <a:solidFill>
                      <a:srgbClr val="FFFFFF"/>
                    </a:solidFill>
                  </a:tcPr>
                </a:tc>
                <a:tc>
                  <a:txBody>
                    <a:bodyPr/>
                    <a:lstStyle/>
                    <a:p>
                      <a:pPr algn="ctr"/>
                      <a:r>
                        <a:rPr sz="1250" b="0">
                          <a:solidFill>
                            <a:srgbClr val="1E2A38"/>
                          </a:solidFill>
                          <a:latin typeface="Calibri"/>
                        </a:rPr>
                        <a:t>0.0808</a:t>
                      </a:r>
                    </a:p>
                  </a:txBody>
                  <a:tcPr marL="54864" marR="36576" marT="9144" marB="9144" anchor="ctr">
                    <a:solidFill>
                      <a:srgbClr val="FFFFFF"/>
                    </a:solidFill>
                  </a:tcPr>
                </a:tc>
                <a:tc>
                  <a:txBody>
                    <a:bodyPr/>
                    <a:lstStyle/>
                    <a:p>
                      <a:pPr algn="ctr"/>
                      <a:r>
                        <a:rPr sz="1250" b="0">
                          <a:solidFill>
                            <a:srgbClr val="1E2A38"/>
                          </a:solidFill>
                          <a:latin typeface="Calibri"/>
                        </a:rPr>
                        <a:t>0.1053</a:t>
                      </a:r>
                    </a:p>
                  </a:txBody>
                  <a:tcPr marL="54864" marR="36576" marT="9144" marB="9144" anchor="ctr">
                    <a:solidFill>
                      <a:srgbClr val="FFFFFF"/>
                    </a:solidFill>
                  </a:tcPr>
                </a:tc>
              </a:tr>
              <a:tr h="365760">
                <a:tc vMerge="1">
                  <a:txBody>
                    <a:bodyPr/>
                    <a:lstStyle/>
                    <a:p>
                      <a:pPr algn="l"/>
                      <a:r>
                        <a:rPr sz="1250" b="1">
                          <a:solidFill>
                            <a:srgbClr val="1E2A38"/>
                          </a:solidFill>
                          <a:latin typeface="Calibri"/>
                        </a:rPr>
                        <a:t/>
                      </a:r>
                    </a:p>
                  </a:txBody>
                  <a:tcPr marL="54864" marR="36576" marT="9144" marB="9144" anchor="ctr">
                    <a:solidFill>
                      <a:srgbClr val="F4F7FA"/>
                    </a:solidFill>
                  </a:tcPr>
                </a:tc>
                <a:tc>
                  <a:txBody>
                    <a:bodyPr/>
                    <a:lstStyle/>
                    <a:p>
                      <a:pPr algn="l"/>
                      <a:r>
                        <a:rPr sz="1250" b="0">
                          <a:solidFill>
                            <a:srgbClr val="1E2A38"/>
                          </a:solidFill>
                          <a:latin typeface="Calibri"/>
                        </a:rPr>
                        <a:t>RFR</a:t>
                      </a:r>
                    </a:p>
                  </a:txBody>
                  <a:tcPr marL="54864" marR="36576" marT="9144" marB="9144" anchor="ctr">
                    <a:solidFill>
                      <a:srgbClr val="F4F7FA"/>
                    </a:solidFill>
                  </a:tcPr>
                </a:tc>
                <a:tc>
                  <a:txBody>
                    <a:bodyPr/>
                    <a:lstStyle/>
                    <a:p>
                      <a:pPr algn="ctr"/>
                      <a:r>
                        <a:rPr sz="1250" b="0">
                          <a:solidFill>
                            <a:srgbClr val="1E2A38"/>
                          </a:solidFill>
                          <a:latin typeface="Calibri"/>
                        </a:rPr>
                        <a:t>0.6404</a:t>
                      </a:r>
                    </a:p>
                  </a:txBody>
                  <a:tcPr marL="54864" marR="36576" marT="9144" marB="9144" anchor="ctr">
                    <a:solidFill>
                      <a:srgbClr val="F4F7FA"/>
                    </a:solidFill>
                  </a:tcPr>
                </a:tc>
                <a:tc>
                  <a:txBody>
                    <a:bodyPr/>
                    <a:lstStyle/>
                    <a:p>
                      <a:pPr algn="ctr"/>
                      <a:r>
                        <a:rPr sz="1250" b="0">
                          <a:solidFill>
                            <a:srgbClr val="1E2A38"/>
                          </a:solidFill>
                          <a:latin typeface="Calibri"/>
                        </a:rPr>
                        <a:t>0.0813</a:t>
                      </a:r>
                    </a:p>
                  </a:txBody>
                  <a:tcPr marL="54864" marR="36576" marT="9144" marB="9144" anchor="ctr">
                    <a:solidFill>
                      <a:srgbClr val="F4F7FA"/>
                    </a:solidFill>
                  </a:tcPr>
                </a:tc>
                <a:tc>
                  <a:txBody>
                    <a:bodyPr/>
                    <a:lstStyle/>
                    <a:p>
                      <a:pPr algn="ctr"/>
                      <a:r>
                        <a:rPr sz="1250" b="0">
                          <a:solidFill>
                            <a:srgbClr val="1E2A38"/>
                          </a:solidFill>
                          <a:latin typeface="Calibri"/>
                        </a:rPr>
                        <a:t>0.1067</a:t>
                      </a:r>
                    </a:p>
                  </a:txBody>
                  <a:tcPr marL="54864" marR="36576" marT="9144" marB="9144" anchor="ctr">
                    <a:solidFill>
                      <a:srgbClr val="F4F7FA"/>
                    </a:solidFill>
                  </a:tcPr>
                </a:tc>
              </a:tr>
            </a:tbl>
          </a:graphicData>
        </a:graphic>
      </p:graphicFrame>
      <p:sp>
        <p:nvSpPr>
          <p:cNvPr id="6" name="Rounded Rectangle 5"/>
          <p:cNvSpPr/>
          <p:nvPr/>
        </p:nvSpPr>
        <p:spPr>
          <a:xfrm>
            <a:off x="7452360" y="1874519"/>
            <a:ext cx="3977639" cy="4023360"/>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2084831"/>
            <a:ext cx="3383280"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E2A38"/>
                </a:solidFill>
                <a:latin typeface="Calibri"/>
              </a:rPr>
              <a:t>Reading the table</a:t>
            </a:r>
          </a:p>
        </p:txBody>
      </p:sp>
      <p:sp>
        <p:nvSpPr>
          <p:cNvPr id="8" name="TextBox 7"/>
          <p:cNvSpPr txBox="1"/>
          <p:nvPr/>
        </p:nvSpPr>
        <p:spPr>
          <a:xfrm>
            <a:off x="7772400" y="2560320"/>
            <a:ext cx="3429000" cy="3200400"/>
          </a:xfrm>
          <a:prstGeom prst="rect">
            <a:avLst/>
          </a:prstGeom>
          <a:noFill/>
        </p:spPr>
        <p:txBody>
          <a:bodyPr wrap="square" anchor="t" lIns="0" rIns="0" tIns="0" bIns="0">
            <a:spAutoFit/>
          </a:bodyPr>
          <a:lstStyle/>
          <a:p>
            <a:pPr algn="l">
              <a:lnSpc>
                <a:spcPct val="105000"/>
              </a:lnSpc>
              <a:spcBef>
                <a:spcPts val="0"/>
              </a:spcBef>
              <a:spcAft>
                <a:spcPts val="900"/>
              </a:spcAft>
            </a:pPr>
            <a:r>
              <a:rPr sz="1250" b="1" i="0">
                <a:solidFill>
                  <a:srgbClr val="285AE6"/>
                </a:solidFill>
                <a:latin typeface="Calibri"/>
              </a:rPr>
              <a:t>RQ1.</a:t>
            </a:r>
            <a:r>
              <a:rPr sz="1250" b="0" i="0">
                <a:solidFill>
                  <a:srgbClr val="384657"/>
                </a:solidFill>
                <a:latin typeface="Calibri"/>
              </a:rPr>
              <a:t> Both external baselines carry ~2× FADO's DP on both regimes — drift erodes their fairness (all p&lt;0.001).</a:t>
            </a:r>
          </a:p>
          <a:p>
            <a:pPr algn="l">
              <a:lnSpc>
                <a:spcPct val="105000"/>
              </a:lnSpc>
              <a:spcBef>
                <a:spcPts val="0"/>
              </a:spcBef>
              <a:spcAft>
                <a:spcPts val="900"/>
              </a:spcAft>
            </a:pPr>
            <a:r>
              <a:rPr sz="1250" b="1" i="0">
                <a:solidFill>
                  <a:srgbClr val="F57823"/>
                </a:solidFill>
                <a:latin typeface="Calibri"/>
              </a:rPr>
              <a:t>Controller is regime-dependent.</a:t>
            </a:r>
            <a:r>
              <a:rPr sz="1250" b="0" i="0">
                <a:solidFill>
                  <a:srgbClr val="384657"/>
                </a:solidFill>
                <a:latin typeface="Calibri"/>
              </a:rPr>
              <a:t> On abrupt COMPAS it cuts DP by 0.68pp and EO by 0.56pp (both p&lt;0.001), at a 0.17pp accuracy cost.</a:t>
            </a:r>
          </a:p>
          <a:p>
            <a:pPr algn="l">
              <a:lnSpc>
                <a:spcPct val="105000"/>
              </a:lnSpc>
              <a:spcBef>
                <a:spcPts val="0"/>
              </a:spcBef>
              <a:spcAft>
                <a:spcPts val="900"/>
              </a:spcAft>
            </a:pPr>
            <a:r>
              <a:rPr sz="1250" b="1" i="0">
                <a:solidFill>
                  <a:srgbClr val="384657"/>
                </a:solidFill>
                <a:latin typeface="Calibri"/>
              </a:rPr>
              <a:t>On gradual Folktables</a:t>
            </a:r>
            <a:r>
              <a:rPr sz="1250" b="0" i="0">
                <a:solidFill>
                  <a:srgbClr val="384657"/>
                </a:solidFill>
                <a:latin typeface="Calibri"/>
              </a:rPr>
              <a:t> it essentially ties the base learner (0.14pp DP; Acc/EO within seed std) — a smooth shift needs no spike.</a:t>
            </a:r>
          </a:p>
        </p:txBody>
      </p:sp>
      <p:sp>
        <p:nvSpPr>
          <p:cNvPr id="9" name="TextBox 8"/>
          <p:cNvSpPr txBox="1"/>
          <p:nvPr/>
        </p:nvSpPr>
        <p:spPr>
          <a:xfrm>
            <a:off x="777240" y="5257800"/>
            <a:ext cx="6400800" cy="457200"/>
          </a:xfrm>
          <a:prstGeom prst="rect">
            <a:avLst/>
          </a:prstGeom>
          <a:noFill/>
        </p:spPr>
        <p:txBody>
          <a:bodyPr wrap="square" anchor="t" lIns="0" rIns="0" tIns="0" bIns="0">
            <a:spAutoFit/>
          </a:bodyPr>
          <a:lstStyle/>
          <a:p>
            <a:pPr algn="l">
              <a:lnSpc>
                <a:spcPct val="100000"/>
              </a:lnSpc>
              <a:spcBef>
                <a:spcPts val="0"/>
              </a:spcBef>
              <a:spcAft>
                <a:spcPts val="400"/>
              </a:spcAft>
            </a:pPr>
            <a:r>
              <a:rPr sz="1100" b="0" i="1">
                <a:solidFill>
                  <a:srgbClr val="64748D"/>
                </a:solidFill>
                <a:latin typeface="Calibri"/>
              </a:rPr>
              <a:t>Bold = best per metric within dataset;  ** p&lt;0.01, *** p&lt;0.001 (paired Wilcoxon, Holm) vs every baseline.  EO monitored, not optimised.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57823"/>
                </a:solidFill>
                <a:latin typeface="Calibri"/>
              </a:rPr>
              <a:t>RESULTS II  ·  INTERSECTIONAL (SEX × RACE) — NEW THIS CYCLE</a:t>
            </a:r>
          </a:p>
        </p:txBody>
      </p:sp>
      <p:sp>
        <p:nvSpPr>
          <p:cNvPr id="4" name="TextBox 3"/>
          <p:cNvSpPr txBox="1"/>
          <p:nvPr/>
        </p:nvSpPr>
        <p:spPr>
          <a:xfrm>
            <a:off x="777240" y="777240"/>
            <a:ext cx="1060704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A38"/>
                </a:solidFill>
                <a:latin typeface="Calibri"/>
              </a:rPr>
              <a:t>Intersectional grouping surfaces the controller's contribution</a:t>
            </a:r>
          </a:p>
        </p:txBody>
      </p:sp>
      <p:graphicFrame>
        <p:nvGraphicFramePr>
          <p:cNvPr id="5" name="Table 4"/>
          <p:cNvGraphicFramePr>
            <a:graphicFrameLocks noGrp="1"/>
          </p:cNvGraphicFramePr>
          <p:nvPr/>
        </p:nvGraphicFramePr>
        <p:xfrm>
          <a:off x="777240" y="1965960"/>
          <a:ext cx="6035040" cy="2011680"/>
        </p:xfrm>
        <a:graphic>
          <a:graphicData uri="http://schemas.openxmlformats.org/drawingml/2006/table">
            <a:tbl>
              <a:tblPr firstRow="1" bandRow="1">
                <a:tableStyleId>{5C22544A-7EE6-4342-B048-85BDC9FD1C3A}</a:tableStyleId>
              </a:tblPr>
              <a:tblGrid>
                <a:gridCol w="1371600"/>
                <a:gridCol w="1165860"/>
                <a:gridCol w="1165860"/>
                <a:gridCol w="1165860"/>
                <a:gridCol w="1165860"/>
              </a:tblGrid>
              <a:tr h="402336">
                <a:tc>
                  <a:txBody>
                    <a:bodyPr/>
                    <a:lstStyle/>
                    <a:p>
                      <a:pPr algn="l"/>
                      <a:r>
                        <a:rPr sz="1250" b="1">
                          <a:solidFill>
                            <a:srgbClr val="FFFFFF"/>
                          </a:solidFill>
                          <a:latin typeface="Calibri"/>
                        </a:rPr>
                        <a:t>Model</a:t>
                      </a:r>
                    </a:p>
                  </a:txBody>
                  <a:tcPr marL="54864" marR="36576" marT="9144" marB="9144" anchor="ctr">
                    <a:solidFill>
                      <a:srgbClr val="12233F"/>
                    </a:solidFill>
                  </a:tcPr>
                </a:tc>
                <a:tc>
                  <a:txBody>
                    <a:bodyPr/>
                    <a:lstStyle/>
                    <a:p>
                      <a:pPr algn="ctr"/>
                      <a:r>
                        <a:rPr sz="1250" b="1">
                          <a:solidFill>
                            <a:srgbClr val="FFFFFF"/>
                          </a:solidFill>
                          <a:latin typeface="Calibri"/>
                        </a:rPr>
                        <a:t>Acc ↑</a:t>
                      </a:r>
                    </a:p>
                  </a:txBody>
                  <a:tcPr marL="54864" marR="36576" marT="9144" marB="9144" anchor="ctr">
                    <a:solidFill>
                      <a:srgbClr val="12233F"/>
                    </a:solidFill>
                  </a:tcPr>
                </a:tc>
                <a:tc>
                  <a:txBody>
                    <a:bodyPr/>
                    <a:lstStyle/>
                    <a:p>
                      <a:pPr algn="ctr"/>
                      <a:r>
                        <a:rPr sz="1250" b="1">
                          <a:solidFill>
                            <a:srgbClr val="FFFFFF"/>
                          </a:solidFill>
                          <a:latin typeface="Calibri"/>
                        </a:rPr>
                        <a:t>DP ↓</a:t>
                      </a:r>
                    </a:p>
                  </a:txBody>
                  <a:tcPr marL="54864" marR="36576" marT="9144" marB="9144" anchor="ctr">
                    <a:solidFill>
                      <a:srgbClr val="12233F"/>
                    </a:solidFill>
                  </a:tcPr>
                </a:tc>
                <a:tc>
                  <a:txBody>
                    <a:bodyPr/>
                    <a:lstStyle/>
                    <a:p>
                      <a:pPr algn="ctr"/>
                      <a:r>
                        <a:rPr sz="1250" b="1">
                          <a:solidFill>
                            <a:srgbClr val="FFFFFF"/>
                          </a:solidFill>
                          <a:latin typeface="Calibri"/>
                        </a:rPr>
                        <a:t>DP sex ↓</a:t>
                      </a:r>
                    </a:p>
                  </a:txBody>
                  <a:tcPr marL="54864" marR="36576" marT="9144" marB="9144" anchor="ctr">
                    <a:solidFill>
                      <a:srgbClr val="12233F"/>
                    </a:solidFill>
                  </a:tcPr>
                </a:tc>
                <a:tc>
                  <a:txBody>
                    <a:bodyPr/>
                    <a:lstStyle/>
                    <a:p>
                      <a:pPr algn="ctr"/>
                      <a:r>
                        <a:rPr sz="1250" b="1">
                          <a:solidFill>
                            <a:srgbClr val="FFFFFF"/>
                          </a:solidFill>
                          <a:latin typeface="Calibri"/>
                        </a:rPr>
                        <a:t>DP race ↓</a:t>
                      </a:r>
                    </a:p>
                  </a:txBody>
                  <a:tcPr marL="54864" marR="36576" marT="9144" marB="9144" anchor="ctr">
                    <a:solidFill>
                      <a:srgbClr val="12233F"/>
                    </a:solidFill>
                  </a:tcPr>
                </a:tc>
              </a:tr>
              <a:tr h="402336">
                <a:tc>
                  <a:txBody>
                    <a:bodyPr/>
                    <a:lstStyle/>
                    <a:p>
                      <a:pPr algn="l"/>
                      <a:r>
                        <a:rPr sz="1250" b="1">
                          <a:solidFill>
                            <a:srgbClr val="285AE6"/>
                          </a:solidFill>
                          <a:latin typeface="Calibri"/>
                        </a:rPr>
                        <a:t>FADO</a:t>
                      </a:r>
                    </a:p>
                  </a:txBody>
                  <a:tcPr marL="54864" marR="36576" marT="9144" marB="9144" anchor="ctr">
                    <a:solidFill>
                      <a:srgbClr val="E7EEFB"/>
                    </a:solidFill>
                  </a:tcPr>
                </a:tc>
                <a:tc>
                  <a:txBody>
                    <a:bodyPr/>
                    <a:lstStyle/>
                    <a:p>
                      <a:pPr algn="ctr"/>
                      <a:r>
                        <a:rPr sz="1250" b="0">
                          <a:solidFill>
                            <a:srgbClr val="285AE6"/>
                          </a:solidFill>
                          <a:latin typeface="Calibri"/>
                        </a:rPr>
                        <a:t>0.7979</a:t>
                      </a:r>
                    </a:p>
                  </a:txBody>
                  <a:tcPr marL="54864" marR="36576" marT="9144" marB="9144" anchor="ctr">
                    <a:solidFill>
                      <a:srgbClr val="E7EEFB"/>
                    </a:solidFill>
                  </a:tcPr>
                </a:tc>
                <a:tc>
                  <a:txBody>
                    <a:bodyPr/>
                    <a:lstStyle/>
                    <a:p>
                      <a:pPr algn="ctr"/>
                      <a:r>
                        <a:rPr sz="1250" b="1">
                          <a:solidFill>
                            <a:srgbClr val="285AE6"/>
                          </a:solidFill>
                          <a:latin typeface="Calibri"/>
                        </a:rPr>
                        <a:t>0.0688</a:t>
                      </a:r>
                    </a:p>
                  </a:txBody>
                  <a:tcPr marL="54864" marR="36576" marT="9144" marB="9144" anchor="ctr">
                    <a:solidFill>
                      <a:srgbClr val="E7EEFB"/>
                    </a:solidFill>
                  </a:tcPr>
                </a:tc>
                <a:tc>
                  <a:txBody>
                    <a:bodyPr/>
                    <a:lstStyle/>
                    <a:p>
                      <a:pPr algn="ctr"/>
                      <a:r>
                        <a:rPr sz="1250" b="1">
                          <a:solidFill>
                            <a:srgbClr val="285AE6"/>
                          </a:solidFill>
                          <a:latin typeface="Calibri"/>
                        </a:rPr>
                        <a:t>0.0234</a:t>
                      </a:r>
                    </a:p>
                  </a:txBody>
                  <a:tcPr marL="54864" marR="36576" marT="9144" marB="9144" anchor="ctr">
                    <a:solidFill>
                      <a:srgbClr val="E7EEFB"/>
                    </a:solidFill>
                  </a:tcPr>
                </a:tc>
                <a:tc>
                  <a:txBody>
                    <a:bodyPr/>
                    <a:lstStyle/>
                    <a:p>
                      <a:pPr algn="ctr"/>
                      <a:r>
                        <a:rPr sz="1250" b="1">
                          <a:solidFill>
                            <a:srgbClr val="285AE6"/>
                          </a:solidFill>
                          <a:latin typeface="Calibri"/>
                        </a:rPr>
                        <a:t>0.0243</a:t>
                      </a:r>
                    </a:p>
                  </a:txBody>
                  <a:tcPr marL="54864" marR="36576" marT="9144" marB="9144" anchor="ctr">
                    <a:solidFill>
                      <a:srgbClr val="E7EEFB"/>
                    </a:solidFill>
                  </a:tcPr>
                </a:tc>
              </a:tr>
              <a:tr h="402336">
                <a:tc>
                  <a:txBody>
                    <a:bodyPr/>
                    <a:lstStyle/>
                    <a:p>
                      <a:pPr algn="l"/>
                      <a:r>
                        <a:rPr sz="1250" b="0">
                          <a:solidFill>
                            <a:srgbClr val="1E2A38"/>
                          </a:solidFill>
                          <a:latin typeface="Calibri"/>
                        </a:rPr>
                        <a:t>Aranyani</a:t>
                      </a:r>
                    </a:p>
                  </a:txBody>
                  <a:tcPr marL="54864" marR="36576" marT="9144" marB="9144" anchor="ctr">
                    <a:solidFill>
                      <a:srgbClr val="F4F7FA"/>
                    </a:solidFill>
                  </a:tcPr>
                </a:tc>
                <a:tc>
                  <a:txBody>
                    <a:bodyPr/>
                    <a:lstStyle/>
                    <a:p>
                      <a:pPr algn="ctr"/>
                      <a:r>
                        <a:rPr sz="1250" b="1">
                          <a:solidFill>
                            <a:srgbClr val="1E2A38"/>
                          </a:solidFill>
                          <a:latin typeface="Calibri"/>
                        </a:rPr>
                        <a:t>0.8005</a:t>
                      </a:r>
                    </a:p>
                  </a:txBody>
                  <a:tcPr marL="54864" marR="36576" marT="9144" marB="9144" anchor="ctr">
                    <a:solidFill>
                      <a:srgbClr val="F4F7FA"/>
                    </a:solidFill>
                  </a:tcPr>
                </a:tc>
                <a:tc>
                  <a:txBody>
                    <a:bodyPr/>
                    <a:lstStyle/>
                    <a:p>
                      <a:pPr algn="ctr"/>
                      <a:r>
                        <a:rPr sz="1250" b="0">
                          <a:solidFill>
                            <a:srgbClr val="1E2A38"/>
                          </a:solidFill>
                          <a:latin typeface="Calibri"/>
                        </a:rPr>
                        <a:t>0.0727</a:t>
                      </a:r>
                    </a:p>
                  </a:txBody>
                  <a:tcPr marL="54864" marR="36576" marT="9144" marB="9144" anchor="ctr">
                    <a:solidFill>
                      <a:srgbClr val="F4F7FA"/>
                    </a:solidFill>
                  </a:tcPr>
                </a:tc>
                <a:tc>
                  <a:txBody>
                    <a:bodyPr/>
                    <a:lstStyle/>
                    <a:p>
                      <a:pPr algn="ctr"/>
                      <a:r>
                        <a:rPr sz="1250" b="0">
                          <a:solidFill>
                            <a:srgbClr val="1E2A38"/>
                          </a:solidFill>
                          <a:latin typeface="Calibri"/>
                        </a:rPr>
                        <a:t>0.0283</a:t>
                      </a:r>
                    </a:p>
                  </a:txBody>
                  <a:tcPr marL="54864" marR="36576" marT="9144" marB="9144" anchor="ctr">
                    <a:solidFill>
                      <a:srgbClr val="F4F7FA"/>
                    </a:solidFill>
                  </a:tcPr>
                </a:tc>
                <a:tc>
                  <a:txBody>
                    <a:bodyPr/>
                    <a:lstStyle/>
                    <a:p>
                      <a:pPr algn="ctr"/>
                      <a:r>
                        <a:rPr sz="1250" b="0">
                          <a:solidFill>
                            <a:srgbClr val="1E2A38"/>
                          </a:solidFill>
                          <a:latin typeface="Calibri"/>
                        </a:rPr>
                        <a:t>0.0294</a:t>
                      </a:r>
                    </a:p>
                  </a:txBody>
                  <a:tcPr marL="54864" marR="36576" marT="9144" marB="9144" anchor="ctr">
                    <a:solidFill>
                      <a:srgbClr val="F4F7FA"/>
                    </a:solidFill>
                  </a:tcPr>
                </a:tc>
              </a:tr>
              <a:tr h="402336">
                <a:tc>
                  <a:txBody>
                    <a:bodyPr/>
                    <a:lstStyle/>
                    <a:p>
                      <a:pPr algn="l"/>
                      <a:r>
                        <a:rPr sz="1250" b="0">
                          <a:solidFill>
                            <a:srgbClr val="1E2A38"/>
                          </a:solidFill>
                          <a:latin typeface="Calibri"/>
                        </a:rPr>
                        <a:t>ARF</a:t>
                      </a:r>
                    </a:p>
                  </a:txBody>
                  <a:tcPr marL="54864" marR="36576" marT="9144" marB="9144" anchor="ctr">
                    <a:solidFill>
                      <a:srgbClr val="FFFFFF"/>
                    </a:solidFill>
                  </a:tcPr>
                </a:tc>
                <a:tc>
                  <a:txBody>
                    <a:bodyPr/>
                    <a:lstStyle/>
                    <a:p>
                      <a:pPr algn="ctr"/>
                      <a:r>
                        <a:rPr sz="1250" b="0">
                          <a:solidFill>
                            <a:srgbClr val="1E2A38"/>
                          </a:solidFill>
                          <a:latin typeface="Calibri"/>
                        </a:rPr>
                        <a:t>0.7446</a:t>
                      </a:r>
                    </a:p>
                  </a:txBody>
                  <a:tcPr marL="54864" marR="36576" marT="9144" marB="9144" anchor="ctr">
                    <a:solidFill>
                      <a:srgbClr val="FFFFFF"/>
                    </a:solidFill>
                  </a:tcPr>
                </a:tc>
                <a:tc>
                  <a:txBody>
                    <a:bodyPr/>
                    <a:lstStyle/>
                    <a:p>
                      <a:pPr algn="ctr"/>
                      <a:r>
                        <a:rPr sz="1250" b="0">
                          <a:solidFill>
                            <a:srgbClr val="1E2A38"/>
                          </a:solidFill>
                          <a:latin typeface="Calibri"/>
                        </a:rPr>
                        <a:t>0.1497</a:t>
                      </a:r>
                    </a:p>
                  </a:txBody>
                  <a:tcPr marL="54864" marR="36576" marT="9144" marB="9144" anchor="ctr">
                    <a:solidFill>
                      <a:srgbClr val="FFFFFF"/>
                    </a:solidFill>
                  </a:tcPr>
                </a:tc>
                <a:tc>
                  <a:txBody>
                    <a:bodyPr/>
                    <a:lstStyle/>
                    <a:p>
                      <a:pPr algn="ctr"/>
                      <a:r>
                        <a:rPr sz="1250" b="0">
                          <a:solidFill>
                            <a:srgbClr val="1E2A38"/>
                          </a:solidFill>
                          <a:latin typeface="Calibri"/>
                        </a:rPr>
                        <a:t>0.0735</a:t>
                      </a:r>
                    </a:p>
                  </a:txBody>
                  <a:tcPr marL="54864" marR="36576" marT="9144" marB="9144" anchor="ctr">
                    <a:solidFill>
                      <a:srgbClr val="FFFFFF"/>
                    </a:solidFill>
                  </a:tcPr>
                </a:tc>
                <a:tc>
                  <a:txBody>
                    <a:bodyPr/>
                    <a:lstStyle/>
                    <a:p>
                      <a:pPr algn="ctr"/>
                      <a:r>
                        <a:rPr sz="1250" b="0">
                          <a:solidFill>
                            <a:srgbClr val="1E2A38"/>
                          </a:solidFill>
                          <a:latin typeface="Calibri"/>
                        </a:rPr>
                        <a:t>0.0620</a:t>
                      </a:r>
                    </a:p>
                  </a:txBody>
                  <a:tcPr marL="54864" marR="36576" marT="9144" marB="9144" anchor="ctr">
                    <a:solidFill>
                      <a:srgbClr val="FFFFFF"/>
                    </a:solidFill>
                  </a:tcPr>
                </a:tc>
              </a:tr>
              <a:tr h="402336">
                <a:tc>
                  <a:txBody>
                    <a:bodyPr/>
                    <a:lstStyle/>
                    <a:p>
                      <a:pPr algn="l"/>
                      <a:r>
                        <a:rPr sz="1250" b="0">
                          <a:solidFill>
                            <a:srgbClr val="1E2A38"/>
                          </a:solidFill>
                          <a:latin typeface="Calibri"/>
                        </a:rPr>
                        <a:t>RFR</a:t>
                      </a:r>
                    </a:p>
                  </a:txBody>
                  <a:tcPr marL="54864" marR="36576" marT="9144" marB="9144" anchor="ctr">
                    <a:solidFill>
                      <a:srgbClr val="F4F7FA"/>
                    </a:solidFill>
                  </a:tcPr>
                </a:tc>
                <a:tc>
                  <a:txBody>
                    <a:bodyPr/>
                    <a:lstStyle/>
                    <a:p>
                      <a:pPr algn="ctr"/>
                      <a:r>
                        <a:rPr sz="1250" b="0">
                          <a:solidFill>
                            <a:srgbClr val="1E2A38"/>
                          </a:solidFill>
                          <a:latin typeface="Calibri"/>
                        </a:rPr>
                        <a:t>0.7779</a:t>
                      </a:r>
                    </a:p>
                  </a:txBody>
                  <a:tcPr marL="54864" marR="36576" marT="9144" marB="9144" anchor="ctr">
                    <a:solidFill>
                      <a:srgbClr val="F4F7FA"/>
                    </a:solidFill>
                  </a:tcPr>
                </a:tc>
                <a:tc>
                  <a:txBody>
                    <a:bodyPr/>
                    <a:lstStyle/>
                    <a:p>
                      <a:pPr algn="ctr"/>
                      <a:r>
                        <a:rPr sz="1250" b="0">
                          <a:solidFill>
                            <a:srgbClr val="1E2A38"/>
                          </a:solidFill>
                          <a:latin typeface="Calibri"/>
                        </a:rPr>
                        <a:t>0.1427</a:t>
                      </a:r>
                    </a:p>
                  </a:txBody>
                  <a:tcPr marL="54864" marR="36576" marT="9144" marB="9144" anchor="ctr">
                    <a:solidFill>
                      <a:srgbClr val="F4F7FA"/>
                    </a:solidFill>
                  </a:tcPr>
                </a:tc>
                <a:tc>
                  <a:txBody>
                    <a:bodyPr/>
                    <a:lstStyle/>
                    <a:p>
                      <a:pPr algn="ctr"/>
                      <a:r>
                        <a:rPr sz="1250" b="0">
                          <a:solidFill>
                            <a:srgbClr val="1E2A38"/>
                          </a:solidFill>
                          <a:latin typeface="Calibri"/>
                        </a:rPr>
                        <a:t>0.0724</a:t>
                      </a:r>
                    </a:p>
                  </a:txBody>
                  <a:tcPr marL="54864" marR="36576" marT="9144" marB="9144" anchor="ctr">
                    <a:solidFill>
                      <a:srgbClr val="F4F7FA"/>
                    </a:solidFill>
                  </a:tcPr>
                </a:tc>
                <a:tc>
                  <a:txBody>
                    <a:bodyPr/>
                    <a:lstStyle/>
                    <a:p>
                      <a:pPr algn="ctr"/>
                      <a:r>
                        <a:rPr sz="1250" b="0">
                          <a:solidFill>
                            <a:srgbClr val="1E2A38"/>
                          </a:solidFill>
                          <a:latin typeface="Calibri"/>
                        </a:rPr>
                        <a:t>0.0591</a:t>
                      </a:r>
                    </a:p>
                  </a:txBody>
                  <a:tcPr marL="54864" marR="36576" marT="9144" marB="9144" anchor="ctr">
                    <a:solidFill>
                      <a:srgbClr val="F4F7FA"/>
                    </a:solidFill>
                  </a:tcPr>
                </a:tc>
              </a:tr>
            </a:tbl>
          </a:graphicData>
        </a:graphic>
      </p:graphicFrame>
      <p:sp>
        <p:nvSpPr>
          <p:cNvPr id="6" name="TextBox 5"/>
          <p:cNvSpPr txBox="1"/>
          <p:nvPr/>
        </p:nvSpPr>
        <p:spPr>
          <a:xfrm>
            <a:off x="777240" y="4251960"/>
            <a:ext cx="6035040" cy="457200"/>
          </a:xfrm>
          <a:prstGeom prst="rect">
            <a:avLst/>
          </a:prstGeom>
          <a:noFill/>
        </p:spPr>
        <p:txBody>
          <a:bodyPr wrap="square" anchor="t" lIns="0" rIns="0" tIns="0" bIns="0">
            <a:spAutoFit/>
          </a:bodyPr>
          <a:lstStyle/>
          <a:p>
            <a:pPr algn="l">
              <a:lnSpc>
                <a:spcPct val="100000"/>
              </a:lnSpc>
              <a:spcBef>
                <a:spcPts val="0"/>
              </a:spcBef>
              <a:spcAft>
                <a:spcPts val="400"/>
              </a:spcAft>
            </a:pPr>
            <a:r>
              <a:rPr sz="1100" b="0" i="1">
                <a:solidFill>
                  <a:srgbClr val="64748D"/>
                </a:solidFill>
                <a:latin typeface="Calibri"/>
              </a:rPr>
              <a:t>DP = joint violation over the four cells (optimised);  DP sex / DP race = marginal diagnostics.  Bold = best mean.</a:t>
            </a:r>
          </a:p>
        </p:txBody>
      </p:sp>
      <p:sp>
        <p:nvSpPr>
          <p:cNvPr id="7" name="Rounded Rectangle 6"/>
          <p:cNvSpPr/>
          <p:nvPr/>
        </p:nvSpPr>
        <p:spPr>
          <a:xfrm>
            <a:off x="7040880" y="1965960"/>
            <a:ext cx="4389120" cy="1874519"/>
          </a:xfrm>
          <a:prstGeom prst="roundRect">
            <a:avLst>
              <a:gd name="adj" fmla="val 6000"/>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2148840"/>
            <a:ext cx="384048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379646"/>
                </a:solidFill>
                <a:latin typeface="Calibri"/>
              </a:rPr>
              <a:t>The controller now measurably wins</a:t>
            </a:r>
          </a:p>
        </p:txBody>
      </p:sp>
      <p:sp>
        <p:nvSpPr>
          <p:cNvPr id="9" name="TextBox 8"/>
          <p:cNvSpPr txBox="1"/>
          <p:nvPr/>
        </p:nvSpPr>
        <p:spPr>
          <a:xfrm>
            <a:off x="7315200" y="2578608"/>
            <a:ext cx="3840480" cy="1188720"/>
          </a:xfrm>
          <a:prstGeom prst="rect">
            <a:avLst/>
          </a:prstGeom>
          <a:noFill/>
        </p:spPr>
        <p:txBody>
          <a:bodyPr wrap="square" anchor="t" lIns="0" rIns="0" tIns="0" bIns="0">
            <a:spAutoFit/>
          </a:bodyPr>
          <a:lstStyle/>
          <a:p>
            <a:pPr algn="l">
              <a:lnSpc>
                <a:spcPct val="104000"/>
              </a:lnSpc>
              <a:spcBef>
                <a:spcPts val="0"/>
              </a:spcBef>
              <a:spcAft>
                <a:spcPts val="600"/>
              </a:spcAft>
            </a:pPr>
            <a:r>
              <a:rPr sz="1250" b="0" i="0">
                <a:solidFill>
                  <a:srgbClr val="384657"/>
                </a:solidFill>
                <a:latin typeface="Calibri"/>
              </a:rPr>
              <a:t>vs the controller-free forest: DP −0.38pp, significant under </a:t>
            </a:r>
            <a:r>
              <a:rPr sz="1250" b="1" i="0">
                <a:solidFill>
                  <a:srgbClr val="384657"/>
                </a:solidFill>
                <a:latin typeface="Calibri"/>
              </a:rPr>
              <a:t>both</a:t>
            </a:r>
            <a:r>
              <a:rPr sz="1250" b="0" i="0">
                <a:solidFill>
                  <a:srgbClr val="384657"/>
                </a:solidFill>
                <a:latin typeface="Calibri"/>
              </a:rPr>
              <a:t> Wilcoxon (p&lt;0.001) and Welch (p&lt;0.01).</a:t>
            </a:r>
          </a:p>
          <a:p>
            <a:pPr algn="l">
              <a:lnSpc>
                <a:spcPct val="104000"/>
              </a:lnSpc>
              <a:spcBef>
                <a:spcPts val="0"/>
              </a:spcBef>
              <a:spcAft>
                <a:spcPts val="600"/>
              </a:spcAft>
            </a:pPr>
            <a:r>
              <a:rPr sz="1250" b="0" i="1">
                <a:solidFill>
                  <a:srgbClr val="384657"/>
                </a:solidFill>
                <a:latin typeface="Calibri"/>
              </a:rPr>
              <a:t>Marginal setting was only a tie</a:t>
            </a:r>
            <a:r>
              <a:rPr sz="1250" b="0" i="0">
                <a:solidFill>
                  <a:srgbClr val="384657"/>
                </a:solidFill>
                <a:latin typeface="Calibri"/>
              </a:rPr>
              <a:t> — the joint objective makes the gain detectable.</a:t>
            </a:r>
          </a:p>
        </p:txBody>
      </p:sp>
      <p:sp>
        <p:nvSpPr>
          <p:cNvPr id="10" name="Rounded Rectangle 9"/>
          <p:cNvSpPr/>
          <p:nvPr/>
        </p:nvSpPr>
        <p:spPr>
          <a:xfrm>
            <a:off x="7040880" y="4023360"/>
            <a:ext cx="4389120" cy="1874519"/>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4206240"/>
            <a:ext cx="384048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F57823"/>
                </a:solidFill>
                <a:latin typeface="Calibri"/>
              </a:rPr>
              <a:t>Gerrymandering, confirmed</a:t>
            </a:r>
          </a:p>
        </p:txBody>
      </p:sp>
      <p:sp>
        <p:nvSpPr>
          <p:cNvPr id="12" name="TextBox 11"/>
          <p:cNvSpPr txBox="1"/>
          <p:nvPr/>
        </p:nvSpPr>
        <p:spPr>
          <a:xfrm>
            <a:off x="7315200" y="4636008"/>
            <a:ext cx="3840480" cy="1188720"/>
          </a:xfrm>
          <a:prstGeom prst="rect">
            <a:avLst/>
          </a:prstGeom>
          <a:noFill/>
        </p:spPr>
        <p:txBody>
          <a:bodyPr wrap="square" anchor="t" lIns="0" rIns="0" tIns="0" bIns="0">
            <a:spAutoFit/>
          </a:bodyPr>
          <a:lstStyle/>
          <a:p>
            <a:pPr algn="l">
              <a:lnSpc>
                <a:spcPct val="104000"/>
              </a:lnSpc>
              <a:spcBef>
                <a:spcPts val="0"/>
              </a:spcBef>
              <a:spcAft>
                <a:spcPts val="600"/>
              </a:spcAft>
            </a:pPr>
            <a:r>
              <a:rPr sz="1250" b="0" i="0">
                <a:solidFill>
                  <a:srgbClr val="384657"/>
                </a:solidFill>
                <a:latin typeface="Calibri"/>
              </a:rPr>
              <a:t>Intersectional-to-worst-marginal DP ratio ≈ </a:t>
            </a:r>
            <a:r>
              <a:rPr sz="1250" b="1" i="0">
                <a:solidFill>
                  <a:srgbClr val="F57823"/>
                </a:solidFill>
                <a:latin typeface="Calibri"/>
              </a:rPr>
              <a:t>2.8 (FADO)</a:t>
            </a:r>
            <a:r>
              <a:rPr sz="1250" b="0" i="0">
                <a:solidFill>
                  <a:srgbClr val="384657"/>
                </a:solidFill>
                <a:latin typeface="Calibri"/>
              </a:rPr>
              <a:t>, 2.5 (Aranyani), ~2.0 (ARF/RFR).</a:t>
            </a:r>
          </a:p>
          <a:p>
            <a:pPr algn="l">
              <a:lnSpc>
                <a:spcPct val="104000"/>
              </a:lnSpc>
              <a:spcBef>
                <a:spcPts val="0"/>
              </a:spcBef>
              <a:spcAft>
                <a:spcPts val="600"/>
              </a:spcAft>
            </a:pPr>
            <a:r>
              <a:rPr sz="1250" b="1" i="0">
                <a:solidFill>
                  <a:srgbClr val="384657"/>
                </a:solidFill>
                <a:latin typeface="Calibri"/>
              </a:rPr>
              <a:t>The fairest learners hide the largest joint gap</a:t>
            </a:r>
            <a:r>
              <a:rPr sz="1250" b="0" i="0">
                <a:solidFill>
                  <a:srgbClr val="384657"/>
                </a:solidFill>
                <a:latin typeface="Calibri"/>
              </a:rPr>
              <a:t> — a marginal-only audit would miss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57823"/>
                </a:solidFill>
                <a:latin typeface="Calibri"/>
              </a:rPr>
              <a:t>WHAT WE LEARNED</a:t>
            </a:r>
          </a:p>
        </p:txBody>
      </p:sp>
      <p:sp>
        <p:nvSpPr>
          <p:cNvPr id="4" name="TextBox 3"/>
          <p:cNvSpPr txBox="1"/>
          <p:nvPr/>
        </p:nvSpPr>
        <p:spPr>
          <a:xfrm>
            <a:off x="777240" y="777240"/>
            <a:ext cx="1060704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FFFFFF"/>
                </a:solidFill>
                <a:latin typeface="Calibri"/>
              </a:rPr>
              <a:t>Synthesis</a:t>
            </a:r>
          </a:p>
        </p:txBody>
      </p:sp>
      <p:sp>
        <p:nvSpPr>
          <p:cNvPr id="5" name="Rounded Rectangle 4"/>
          <p:cNvSpPr/>
          <p:nvPr/>
        </p:nvSpPr>
        <p:spPr>
          <a:xfrm>
            <a:off x="777240" y="2011680"/>
            <a:ext cx="3429000" cy="3749039"/>
          </a:xfrm>
          <a:prstGeom prst="roundRect">
            <a:avLst>
              <a:gd name="adj" fmla="val 6000"/>
            </a:avLst>
          </a:prstGeom>
          <a:solidFill>
            <a:srgbClr val="1B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9848" y="2286000"/>
            <a:ext cx="28803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285AE6"/>
                </a:solidFill>
                <a:latin typeface="Calibri"/>
              </a:rPr>
              <a:t>RQ1</a:t>
            </a:r>
          </a:p>
        </p:txBody>
      </p:sp>
      <p:sp>
        <p:nvSpPr>
          <p:cNvPr id="7" name="TextBox 6"/>
          <p:cNvSpPr txBox="1"/>
          <p:nvPr/>
        </p:nvSpPr>
        <p:spPr>
          <a:xfrm>
            <a:off x="1069848" y="2724912"/>
            <a:ext cx="2862072" cy="1097280"/>
          </a:xfrm>
          <a:prstGeom prst="rect">
            <a:avLst/>
          </a:prstGeom>
          <a:noFill/>
        </p:spPr>
        <p:txBody>
          <a:bodyPr wrap="square" anchor="t" lIns="0" rIns="0" tIns="0" bIns="0">
            <a:spAutoFit/>
          </a:bodyPr>
          <a:lstStyle/>
          <a:p>
            <a:pPr algn="l">
              <a:lnSpc>
                <a:spcPct val="102000"/>
              </a:lnSpc>
              <a:spcBef>
                <a:spcPts val="0"/>
              </a:spcBef>
              <a:spcAft>
                <a:spcPts val="400"/>
              </a:spcAft>
            </a:pPr>
            <a:r>
              <a:rPr sz="1800" b="1" i="0">
                <a:solidFill>
                  <a:srgbClr val="FFFFFF"/>
                </a:solidFill>
                <a:latin typeface="Calibri"/>
              </a:rPr>
              <a:t>Drift is a fairness problem.</a:t>
            </a:r>
          </a:p>
        </p:txBody>
      </p:sp>
      <p:sp>
        <p:nvSpPr>
          <p:cNvPr id="8" name="TextBox 7"/>
          <p:cNvSpPr txBox="1"/>
          <p:nvPr/>
        </p:nvSpPr>
        <p:spPr>
          <a:xfrm>
            <a:off x="1069848" y="3840480"/>
            <a:ext cx="2862072" cy="1828800"/>
          </a:xfrm>
          <a:prstGeom prst="rect">
            <a:avLst/>
          </a:prstGeom>
          <a:noFill/>
        </p:spPr>
        <p:txBody>
          <a:bodyPr wrap="square" anchor="t" lIns="0" rIns="0" tIns="0" bIns="0">
            <a:spAutoFit/>
          </a:bodyPr>
          <a:lstStyle/>
          <a:p>
            <a:pPr algn="l">
              <a:lnSpc>
                <a:spcPct val="112000"/>
              </a:lnSpc>
              <a:spcBef>
                <a:spcPts val="0"/>
              </a:spcBef>
              <a:spcAft>
                <a:spcPts val="400"/>
              </a:spcAft>
            </a:pPr>
            <a:r>
              <a:rPr sz="1400" b="0" i="0">
                <a:solidFill>
                  <a:srgbClr val="CFDAEC"/>
                </a:solidFill>
                <a:latin typeface="Calibri"/>
              </a:rPr>
              <a:t>On both a gradual and an abrupt regime, drift inflates the DP of accuracy-only and static-fair baselines alike.</a:t>
            </a:r>
          </a:p>
        </p:txBody>
      </p:sp>
      <p:sp>
        <p:nvSpPr>
          <p:cNvPr id="9" name="Rounded Rectangle 8"/>
          <p:cNvSpPr/>
          <p:nvPr/>
        </p:nvSpPr>
        <p:spPr>
          <a:xfrm>
            <a:off x="4462272" y="2011680"/>
            <a:ext cx="3429000" cy="3749039"/>
          </a:xfrm>
          <a:prstGeom prst="roundRect">
            <a:avLst>
              <a:gd name="adj" fmla="val 6000"/>
            </a:avLst>
          </a:prstGeom>
          <a:solidFill>
            <a:srgbClr val="1B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2286000"/>
            <a:ext cx="28803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F57823"/>
                </a:solidFill>
                <a:latin typeface="Calibri"/>
              </a:rPr>
              <a:t>RQ2</a:t>
            </a:r>
          </a:p>
        </p:txBody>
      </p:sp>
      <p:sp>
        <p:nvSpPr>
          <p:cNvPr id="11" name="TextBox 10"/>
          <p:cNvSpPr txBox="1"/>
          <p:nvPr/>
        </p:nvSpPr>
        <p:spPr>
          <a:xfrm>
            <a:off x="4754880" y="2724912"/>
            <a:ext cx="2862072" cy="1097280"/>
          </a:xfrm>
          <a:prstGeom prst="rect">
            <a:avLst/>
          </a:prstGeom>
          <a:noFill/>
        </p:spPr>
        <p:txBody>
          <a:bodyPr wrap="square" anchor="t" lIns="0" rIns="0" tIns="0" bIns="0">
            <a:spAutoFit/>
          </a:bodyPr>
          <a:lstStyle/>
          <a:p>
            <a:pPr algn="l">
              <a:lnSpc>
                <a:spcPct val="102000"/>
              </a:lnSpc>
              <a:spcBef>
                <a:spcPts val="0"/>
              </a:spcBef>
              <a:spcAft>
                <a:spcPts val="400"/>
              </a:spcAft>
            </a:pPr>
            <a:r>
              <a:rPr sz="1800" b="1" i="0">
                <a:solidFill>
                  <a:srgbClr val="FFFFFF"/>
                </a:solidFill>
                <a:latin typeface="Calibri"/>
              </a:rPr>
              <a:t>An adaptive fair learner preserves both.</a:t>
            </a:r>
          </a:p>
        </p:txBody>
      </p:sp>
      <p:sp>
        <p:nvSpPr>
          <p:cNvPr id="12" name="TextBox 11"/>
          <p:cNvSpPr txBox="1"/>
          <p:nvPr/>
        </p:nvSpPr>
        <p:spPr>
          <a:xfrm>
            <a:off x="4754880" y="3840480"/>
            <a:ext cx="2862072" cy="1828800"/>
          </a:xfrm>
          <a:prstGeom prst="rect">
            <a:avLst/>
          </a:prstGeom>
          <a:noFill/>
        </p:spPr>
        <p:txBody>
          <a:bodyPr wrap="square" anchor="t" lIns="0" rIns="0" tIns="0" bIns="0">
            <a:spAutoFit/>
          </a:bodyPr>
          <a:lstStyle/>
          <a:p>
            <a:pPr algn="l">
              <a:lnSpc>
                <a:spcPct val="112000"/>
              </a:lnSpc>
              <a:spcBef>
                <a:spcPts val="0"/>
              </a:spcBef>
              <a:spcAft>
                <a:spcPts val="400"/>
              </a:spcAft>
            </a:pPr>
            <a:r>
              <a:rPr sz="1400" b="0" i="0">
                <a:solidFill>
                  <a:srgbClr val="CFDAEC"/>
                </a:solidFill>
                <a:latin typeface="Calibri"/>
              </a:rPr>
              <a:t>FADO attains the best DP/EO with a sub-0.3pp accuracy cost; the reaction controller adds value where its spike-then-anneal design fits — abrupt shift.</a:t>
            </a:r>
          </a:p>
        </p:txBody>
      </p:sp>
      <p:sp>
        <p:nvSpPr>
          <p:cNvPr id="13" name="Rounded Rectangle 12"/>
          <p:cNvSpPr/>
          <p:nvPr/>
        </p:nvSpPr>
        <p:spPr>
          <a:xfrm>
            <a:off x="8147304" y="2011680"/>
            <a:ext cx="3429000" cy="3749039"/>
          </a:xfrm>
          <a:prstGeom prst="roundRect">
            <a:avLst>
              <a:gd name="adj" fmla="val 6000"/>
            </a:avLst>
          </a:prstGeom>
          <a:solidFill>
            <a:srgbClr val="1B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9912" y="2286000"/>
            <a:ext cx="28803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379646"/>
                </a:solidFill>
                <a:latin typeface="Calibri"/>
              </a:rPr>
              <a:t>Design</a:t>
            </a:r>
          </a:p>
        </p:txBody>
      </p:sp>
      <p:sp>
        <p:nvSpPr>
          <p:cNvPr id="15" name="TextBox 14"/>
          <p:cNvSpPr txBox="1"/>
          <p:nvPr/>
        </p:nvSpPr>
        <p:spPr>
          <a:xfrm>
            <a:off x="8439912" y="2724912"/>
            <a:ext cx="2862072" cy="1097280"/>
          </a:xfrm>
          <a:prstGeom prst="rect">
            <a:avLst/>
          </a:prstGeom>
          <a:noFill/>
        </p:spPr>
        <p:txBody>
          <a:bodyPr wrap="square" anchor="t" lIns="0" rIns="0" tIns="0" bIns="0">
            <a:spAutoFit/>
          </a:bodyPr>
          <a:lstStyle/>
          <a:p>
            <a:pPr algn="l">
              <a:lnSpc>
                <a:spcPct val="102000"/>
              </a:lnSpc>
              <a:spcBef>
                <a:spcPts val="0"/>
              </a:spcBef>
              <a:spcAft>
                <a:spcPts val="400"/>
              </a:spcAft>
            </a:pPr>
            <a:r>
              <a:rPr sz="1800" b="1" i="0">
                <a:solidFill>
                  <a:srgbClr val="FFFFFF"/>
                </a:solidFill>
                <a:latin typeface="Calibri"/>
              </a:rPr>
              <a:t>The objective must match the harm.</a:t>
            </a:r>
          </a:p>
        </p:txBody>
      </p:sp>
      <p:sp>
        <p:nvSpPr>
          <p:cNvPr id="16" name="TextBox 15"/>
          <p:cNvSpPr txBox="1"/>
          <p:nvPr/>
        </p:nvSpPr>
        <p:spPr>
          <a:xfrm>
            <a:off x="8439912" y="3840480"/>
            <a:ext cx="2862072" cy="1828800"/>
          </a:xfrm>
          <a:prstGeom prst="rect">
            <a:avLst/>
          </a:prstGeom>
          <a:noFill/>
        </p:spPr>
        <p:txBody>
          <a:bodyPr wrap="square" anchor="t" lIns="0" rIns="0" tIns="0" bIns="0">
            <a:spAutoFit/>
          </a:bodyPr>
          <a:lstStyle/>
          <a:p>
            <a:pPr algn="l">
              <a:lnSpc>
                <a:spcPct val="112000"/>
              </a:lnSpc>
              <a:spcBef>
                <a:spcPts val="0"/>
              </a:spcBef>
              <a:spcAft>
                <a:spcPts val="400"/>
              </a:spcAft>
            </a:pPr>
            <a:r>
              <a:rPr sz="1400" b="0" i="0">
                <a:solidFill>
                  <a:srgbClr val="CFDAEC"/>
                </a:solidFill>
                <a:latin typeface="Calibri"/>
              </a:rPr>
              <a:t>Node-level DP + a joint group index is what makes both the fairness penalty cheap and the controller's contribution measurable.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F57823"/>
                </a:solidFill>
                <a:latin typeface="Calibri"/>
              </a:rPr>
              <a:t>STATUS &amp; NEXT STEPS</a:t>
            </a:r>
          </a:p>
        </p:txBody>
      </p:sp>
      <p:sp>
        <p:nvSpPr>
          <p:cNvPr id="4" name="TextBox 3"/>
          <p:cNvSpPr txBox="1"/>
          <p:nvPr/>
        </p:nvSpPr>
        <p:spPr>
          <a:xfrm>
            <a:off x="777240" y="777240"/>
            <a:ext cx="10607040" cy="82296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E2A38"/>
                </a:solidFill>
                <a:latin typeface="Calibri"/>
              </a:rPr>
              <a:t>Where the work stands</a:t>
            </a:r>
          </a:p>
        </p:txBody>
      </p:sp>
      <p:sp>
        <p:nvSpPr>
          <p:cNvPr id="5" name="Rounded Rectangle 4"/>
          <p:cNvSpPr/>
          <p:nvPr/>
        </p:nvSpPr>
        <p:spPr>
          <a:xfrm>
            <a:off x="777240" y="1828800"/>
            <a:ext cx="5257800" cy="3977639"/>
          </a:xfrm>
          <a:prstGeom prst="roundRect">
            <a:avLst>
              <a:gd name="adj" fmla="val 6000"/>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57400"/>
            <a:ext cx="4754880" cy="457200"/>
          </a:xfrm>
          <a:prstGeom prst="rect">
            <a:avLst/>
          </a:prstGeom>
          <a:noFill/>
        </p:spPr>
        <p:txBody>
          <a:bodyPr wrap="square" anchor="t" lIns="0" rIns="0" tIns="0" bIns="0">
            <a:spAutoFit/>
          </a:bodyPr>
          <a:lstStyle/>
          <a:p>
            <a:pPr algn="l">
              <a:lnSpc>
                <a:spcPct val="100000"/>
              </a:lnSpc>
              <a:spcBef>
                <a:spcPts val="0"/>
              </a:spcBef>
              <a:spcAft>
                <a:spcPts val="400"/>
              </a:spcAft>
            </a:pPr>
            <a:r>
              <a:rPr sz="1800" b="1" i="0">
                <a:solidFill>
                  <a:srgbClr val="379646"/>
                </a:solidFill>
                <a:latin typeface="Calibri"/>
              </a:rPr>
              <a:t>Done</a:t>
            </a:r>
          </a:p>
        </p:txBody>
      </p:sp>
      <p:sp>
        <p:nvSpPr>
          <p:cNvPr id="7" name="TextBox 6"/>
          <p:cNvSpPr txBox="1"/>
          <p:nvPr/>
        </p:nvSpPr>
        <p:spPr>
          <a:xfrm>
            <a:off x="1097280" y="2606040"/>
            <a:ext cx="4754880" cy="3017520"/>
          </a:xfrm>
          <a:prstGeom prst="rect">
            <a:avLst/>
          </a:prstGeom>
          <a:noFill/>
        </p:spPr>
        <p:txBody>
          <a:bodyPr wrap="square" anchor="t" lIns="0" rIns="0" tIns="0" bIns="0">
            <a:spAutoFit/>
          </a:bodyPr>
          <a:lstStyle/>
          <a:p>
            <a:pPr algn="l">
              <a:lnSpc>
                <a:spcPct val="106000"/>
              </a:lnSpc>
              <a:spcBef>
                <a:spcPts val="0"/>
              </a:spcBef>
              <a:spcAft>
                <a:spcPts val="1100"/>
              </a:spcAft>
            </a:pPr>
            <a:r>
              <a:rPr sz="1450" b="1" i="0">
                <a:solidFill>
                  <a:srgbClr val="384657"/>
                </a:solidFill>
                <a:latin typeface="Calibri"/>
              </a:rPr>
              <a:t>Intersectional extension</a:t>
            </a:r>
            <a:r>
              <a:rPr sz="1450" b="0" i="0">
                <a:solidFill>
                  <a:srgbClr val="384657"/>
                </a:solidFill>
                <a:latin typeface="Calibri"/>
              </a:rPr>
              <a:t> — composite group + marginal diagnostics, no learner change</a:t>
            </a:r>
          </a:p>
          <a:p>
            <a:pPr algn="l">
              <a:lnSpc>
                <a:spcPct val="106000"/>
              </a:lnSpc>
              <a:spcBef>
                <a:spcPts val="0"/>
              </a:spcBef>
              <a:spcAft>
                <a:spcPts val="1100"/>
              </a:spcAft>
            </a:pPr>
            <a:r>
              <a:rPr sz="1450" b="1" i="0">
                <a:solidFill>
                  <a:srgbClr val="384657"/>
                </a:solidFill>
                <a:latin typeface="Calibri"/>
              </a:rPr>
              <a:t>Folktables 30-seed sweep</a:t>
            </a:r>
            <a:r>
              <a:rPr sz="1450" b="0" i="0">
                <a:solidFill>
                  <a:srgbClr val="384657"/>
                </a:solidFill>
                <a:latin typeface="Calibri"/>
              </a:rPr>
              <a:t> complete and significance-tested (both DP views)</a:t>
            </a:r>
          </a:p>
          <a:p>
            <a:pPr algn="l">
              <a:lnSpc>
                <a:spcPct val="106000"/>
              </a:lnSpc>
              <a:spcBef>
                <a:spcPts val="0"/>
              </a:spcBef>
              <a:spcAft>
                <a:spcPts val="1100"/>
              </a:spcAft>
            </a:pPr>
            <a:r>
              <a:rPr sz="1450" b="1" i="0">
                <a:solidFill>
                  <a:srgbClr val="384657"/>
                </a:solidFill>
                <a:latin typeface="Calibri"/>
              </a:rPr>
              <a:t>Statistics independently verified</a:t>
            </a:r>
            <a:r>
              <a:rPr sz="1450" b="0" i="0">
                <a:solidFill>
                  <a:srgbClr val="384657"/>
                </a:solidFill>
                <a:latin typeface="Calibri"/>
              </a:rPr>
              <a:t> (scipy + statsmodels)</a:t>
            </a:r>
          </a:p>
          <a:p>
            <a:pPr algn="l">
              <a:lnSpc>
                <a:spcPct val="106000"/>
              </a:lnSpc>
              <a:spcBef>
                <a:spcPts val="0"/>
              </a:spcBef>
              <a:spcAft>
                <a:spcPts val="1100"/>
              </a:spcAft>
            </a:pPr>
            <a:r>
              <a:rPr sz="1450" b="1" i="0">
                <a:solidFill>
                  <a:srgbClr val="384657"/>
                </a:solidFill>
                <a:latin typeface="Calibri"/>
              </a:rPr>
              <a:t>Controller logic audited</a:t>
            </a:r>
            <a:r>
              <a:rPr sz="1450" b="0" i="0">
                <a:solidFill>
                  <a:srgbClr val="384657"/>
                </a:solidFill>
                <a:latin typeface="Calibri"/>
              </a:rPr>
              <a:t>; dead O(T²) computation removed</a:t>
            </a:r>
          </a:p>
        </p:txBody>
      </p:sp>
      <p:sp>
        <p:nvSpPr>
          <p:cNvPr id="8" name="Rounded Rectangle 7"/>
          <p:cNvSpPr/>
          <p:nvPr/>
        </p:nvSpPr>
        <p:spPr>
          <a:xfrm>
            <a:off x="6263640" y="1828800"/>
            <a:ext cx="5120640" cy="3977639"/>
          </a:xfrm>
          <a:prstGeom prst="roundRect">
            <a:avLst>
              <a:gd name="adj" fmla="val 6000"/>
            </a:avLst>
          </a:prstGeom>
          <a:solidFill>
            <a:srgbClr val="EF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057400"/>
            <a:ext cx="4572000" cy="457200"/>
          </a:xfrm>
          <a:prstGeom prst="rect">
            <a:avLst/>
          </a:prstGeom>
          <a:noFill/>
        </p:spPr>
        <p:txBody>
          <a:bodyPr wrap="square" anchor="t" lIns="0" rIns="0" tIns="0" bIns="0">
            <a:spAutoFit/>
          </a:bodyPr>
          <a:lstStyle/>
          <a:p>
            <a:pPr algn="l">
              <a:lnSpc>
                <a:spcPct val="100000"/>
              </a:lnSpc>
              <a:spcBef>
                <a:spcPts val="0"/>
              </a:spcBef>
              <a:spcAft>
                <a:spcPts val="400"/>
              </a:spcAft>
            </a:pPr>
            <a:r>
              <a:rPr sz="1800" b="1" i="0">
                <a:solidFill>
                  <a:srgbClr val="F57823"/>
                </a:solidFill>
                <a:latin typeface="Calibri"/>
              </a:rPr>
              <a:t>Next</a:t>
            </a:r>
          </a:p>
        </p:txBody>
      </p:sp>
      <p:sp>
        <p:nvSpPr>
          <p:cNvPr id="10" name="TextBox 9"/>
          <p:cNvSpPr txBox="1"/>
          <p:nvPr/>
        </p:nvSpPr>
        <p:spPr>
          <a:xfrm>
            <a:off x="6583680" y="2606040"/>
            <a:ext cx="4572000" cy="3017520"/>
          </a:xfrm>
          <a:prstGeom prst="rect">
            <a:avLst/>
          </a:prstGeom>
          <a:noFill/>
        </p:spPr>
        <p:txBody>
          <a:bodyPr wrap="square" anchor="t" lIns="0" rIns="0" tIns="0" bIns="0">
            <a:spAutoFit/>
          </a:bodyPr>
          <a:lstStyle/>
          <a:p>
            <a:pPr algn="l">
              <a:lnSpc>
                <a:spcPct val="106000"/>
              </a:lnSpc>
              <a:spcBef>
                <a:spcPts val="0"/>
              </a:spcBef>
              <a:spcAft>
                <a:spcPts val="1100"/>
              </a:spcAft>
            </a:pPr>
            <a:r>
              <a:rPr sz="1450" b="1" i="0">
                <a:solidFill>
                  <a:srgbClr val="F57823"/>
                </a:solidFill>
                <a:latin typeface="Calibri"/>
              </a:rPr>
              <a:t>Controller ablation</a:t>
            </a:r>
            <a:r>
              <a:rPr sz="1450" b="0" i="0">
                <a:solidFill>
                  <a:srgbClr val="384657"/>
                </a:solidFill>
                <a:latin typeface="Calibri"/>
              </a:rPr>
              <a:t> — isolate the label-noise guard, temperature modulation and LR pre-warm; the single most targetable point.</a:t>
            </a:r>
          </a:p>
          <a:p>
            <a:pPr algn="l">
              <a:lnSpc>
                <a:spcPct val="106000"/>
              </a:lnSpc>
              <a:spcBef>
                <a:spcPts val="0"/>
              </a:spcBef>
              <a:spcAft>
                <a:spcPts val="1100"/>
              </a:spcAft>
            </a:pPr>
            <a:r>
              <a:rPr sz="1450" b="1" i="0">
                <a:solidFill>
                  <a:srgbClr val="384657"/>
                </a:solidFill>
                <a:latin typeface="Calibri"/>
              </a:rPr>
              <a:t>Optimise EO directly</a:t>
            </a:r>
            <a:r>
              <a:rPr sz="1450" b="0" i="0">
                <a:solidFill>
                  <a:srgbClr val="384657"/>
                </a:solidFill>
                <a:latin typeface="Calibri"/>
              </a:rPr>
              <a:t> (wire the existing EO regulariser into the gradient step).</a:t>
            </a:r>
          </a:p>
          <a:p>
            <a:pPr algn="l">
              <a:lnSpc>
                <a:spcPct val="106000"/>
              </a:lnSpc>
              <a:spcBef>
                <a:spcPts val="0"/>
              </a:spcBef>
              <a:spcAft>
                <a:spcPts val="1100"/>
              </a:spcAft>
            </a:pPr>
            <a:r>
              <a:rPr sz="1450" b="1" i="0">
                <a:solidFill>
                  <a:srgbClr val="384657"/>
                </a:solidFill>
                <a:latin typeface="Calibri"/>
              </a:rPr>
              <a:t>Finish the COMPAS intersectional sweep</a:t>
            </a:r>
            <a:r>
              <a:rPr sz="1450" b="0" i="0">
                <a:solidFill>
                  <a:srgbClr val="384657"/>
                </a:solidFill>
                <a:latin typeface="Calibri"/>
              </a:rPr>
              <a:t> and re-verify the gerrymandering claim.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77240" y="749808"/>
            <a:ext cx="182880" cy="182880"/>
          </a:xfrm>
          <a:prstGeom prst="ellipse">
            <a:avLst/>
          </a:prstGeom>
          <a:solidFill>
            <a:srgbClr val="285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120" y="749808"/>
            <a:ext cx="182880" cy="182880"/>
          </a:xfrm>
          <a:prstGeom prst="ellipse">
            <a:avLst/>
          </a:prstGeom>
          <a:solidFill>
            <a:srgbClr val="F57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43000" y="749808"/>
            <a:ext cx="182880" cy="182880"/>
          </a:xfrm>
          <a:prstGeom prst="ellipse">
            <a:avLst/>
          </a:prstGeom>
          <a:solidFill>
            <a:srgbClr val="379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0"/>
            <a:ext cx="10698480" cy="1188720"/>
          </a:xfrm>
          <a:prstGeom prst="rect">
            <a:avLst/>
          </a:prstGeom>
          <a:noFill/>
        </p:spPr>
        <p:txBody>
          <a:bodyPr wrap="square" anchor="t" lIns="0" rIns="0" tIns="0" bIns="0">
            <a:spAutoFit/>
          </a:bodyPr>
          <a:lstStyle/>
          <a:p>
            <a:pPr algn="l">
              <a:lnSpc>
                <a:spcPct val="100000"/>
              </a:lnSpc>
              <a:spcBef>
                <a:spcPts val="0"/>
              </a:spcBef>
              <a:spcAft>
                <a:spcPts val="400"/>
              </a:spcAft>
            </a:pPr>
            <a:r>
              <a:rPr sz="4600" b="1" i="0">
                <a:solidFill>
                  <a:srgbClr val="FFFFFF"/>
                </a:solidFill>
                <a:latin typeface="Calibri"/>
              </a:rPr>
              <a:t>Fairness that adapts</a:t>
            </a:r>
          </a:p>
        </p:txBody>
      </p:sp>
      <p:sp>
        <p:nvSpPr>
          <p:cNvPr id="7" name="TextBox 6"/>
          <p:cNvSpPr txBox="1"/>
          <p:nvPr/>
        </p:nvSpPr>
        <p:spPr>
          <a:xfrm>
            <a:off x="795528" y="3520440"/>
            <a:ext cx="10607040" cy="914400"/>
          </a:xfrm>
          <a:prstGeom prst="rect">
            <a:avLst/>
          </a:prstGeom>
          <a:noFill/>
        </p:spPr>
        <p:txBody>
          <a:bodyPr wrap="square" anchor="t" lIns="0" rIns="0" tIns="0" bIns="0">
            <a:spAutoFit/>
          </a:bodyPr>
          <a:lstStyle/>
          <a:p>
            <a:pPr algn="l">
              <a:lnSpc>
                <a:spcPct val="100000"/>
              </a:lnSpc>
              <a:spcBef>
                <a:spcPts val="0"/>
              </a:spcBef>
              <a:spcAft>
                <a:spcPts val="400"/>
              </a:spcAft>
            </a:pPr>
            <a:r>
              <a:rPr sz="2100" b="0" i="0">
                <a:solidFill>
                  <a:srgbClr val="CFDAEC"/>
                </a:solidFill>
                <a:latin typeface="Calibri"/>
              </a:rPr>
              <a:t>A drift-aware controller keeps an intersectionally-fair oblique forest fair </a:t>
            </a:r>
            <a:r>
              <a:rPr sz="2100" b="1" i="0">
                <a:solidFill>
                  <a:srgbClr val="F57823"/>
                </a:solidFill>
                <a:latin typeface="Calibri"/>
              </a:rPr>
              <a:t>as the distribution moves.</a:t>
            </a:r>
          </a:p>
        </p:txBody>
      </p:sp>
      <p:sp>
        <p:nvSpPr>
          <p:cNvPr id="8" name="TextBox 7"/>
          <p:cNvSpPr txBox="1"/>
          <p:nvPr/>
        </p:nvSpPr>
        <p:spPr>
          <a:xfrm>
            <a:off x="795528" y="5212080"/>
            <a:ext cx="10607040" cy="457200"/>
          </a:xfrm>
          <a:prstGeom prst="rect">
            <a:avLst/>
          </a:prstGeom>
          <a:noFill/>
        </p:spPr>
        <p:txBody>
          <a:bodyPr wrap="square" anchor="t" lIns="0" rIns="0" tIns="0" bIns="0">
            <a:spAutoFit/>
          </a:bodyPr>
          <a:lstStyle/>
          <a:p>
            <a:pPr algn="l">
              <a:lnSpc>
                <a:spcPct val="100000"/>
              </a:lnSpc>
              <a:spcBef>
                <a:spcPts val="0"/>
              </a:spcBef>
              <a:spcAft>
                <a:spcPts val="400"/>
              </a:spcAft>
            </a:pPr>
            <a:r>
              <a:rPr sz="1800" b="1" i="0">
                <a:solidFill>
                  <a:srgbClr val="FFFFFF"/>
                </a:solidFill>
                <a:latin typeface="Calibri"/>
              </a:rPr>
              <a:t>Thank you — questions &amp; discussion</a:t>
            </a:r>
          </a:p>
        </p:txBody>
      </p:sp>
      <p:sp>
        <p:nvSpPr>
          <p:cNvPr id="9" name="TextBox 8"/>
          <p:cNvSpPr txBox="1"/>
          <p:nvPr/>
        </p:nvSpPr>
        <p:spPr>
          <a:xfrm>
            <a:off x="795528" y="5650992"/>
            <a:ext cx="10607040" cy="457200"/>
          </a:xfrm>
          <a:prstGeom prst="rect">
            <a:avLst/>
          </a:prstGeom>
          <a:noFill/>
        </p:spPr>
        <p:txBody>
          <a:bodyPr wrap="square" anchor="t" lIns="0" rIns="0" tIns="0" bIns="0">
            <a:spAutoFit/>
          </a:bodyPr>
          <a:lstStyle/>
          <a:p>
            <a:pPr algn="l">
              <a:lnSpc>
                <a:spcPct val="100000"/>
              </a:lnSpc>
              <a:spcBef>
                <a:spcPts val="0"/>
              </a:spcBef>
              <a:spcAft>
                <a:spcPts val="400"/>
              </a:spcAft>
            </a:pPr>
            <a:r>
              <a:rPr sz="1400" b="0" i="0">
                <a:solidFill>
                  <a:srgbClr val="9FB4D8"/>
                </a:solidFill>
                <a:latin typeface="Calibri"/>
              </a:rPr>
              <a:t>Tiago Silva  ·  FADO  ·  submitted to ICDM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